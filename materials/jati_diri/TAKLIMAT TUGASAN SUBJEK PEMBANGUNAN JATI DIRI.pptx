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1" r:id="rId4"/>
    <p:sldId id="289" r:id="rId5"/>
    <p:sldId id="283" r:id="rId6"/>
    <p:sldId id="272" r:id="rId7"/>
    <p:sldId id="284" r:id="rId8"/>
    <p:sldId id="285" r:id="rId9"/>
    <p:sldId id="287" r:id="rId10"/>
    <p:sldId id="29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>
        <p:scale>
          <a:sx n="61" d="100"/>
          <a:sy n="61" d="100"/>
        </p:scale>
        <p:origin x="315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06E5-BF97-4BAF-A26B-BE2378DD6B68}" type="datetimeFigureOut">
              <a:rPr lang="en-MY" smtClean="0"/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90A9-14A6-4EAD-9917-54BB6C627600}" type="slidenum">
              <a:rPr lang="en-MY" smtClean="0"/>
            </a:fld>
            <a:endParaRPr lang="en-MY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06E5-BF97-4BAF-A26B-BE2378DD6B68}" type="datetimeFigureOut">
              <a:rPr lang="en-MY" smtClean="0"/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90A9-14A6-4EAD-9917-54BB6C627600}" type="slidenum">
              <a:rPr lang="en-MY" smtClean="0"/>
            </a:fld>
            <a:endParaRPr lang="en-M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06E5-BF97-4BAF-A26B-BE2378DD6B68}" type="datetimeFigureOut">
              <a:rPr lang="en-MY" smtClean="0"/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90A9-14A6-4EAD-9917-54BB6C627600}" type="slidenum">
              <a:rPr lang="en-MY" smtClean="0"/>
            </a:fld>
            <a:endParaRPr lang="en-MY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06E5-BF97-4BAF-A26B-BE2378DD6B68}" type="datetimeFigureOut">
              <a:rPr lang="en-MY" smtClean="0"/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90A9-14A6-4EAD-9917-54BB6C627600}" type="slidenum">
              <a:rPr lang="en-MY" smtClean="0"/>
            </a:fld>
            <a:endParaRPr lang="en-MY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06E5-BF97-4BAF-A26B-BE2378DD6B68}" type="datetimeFigureOut">
              <a:rPr lang="en-MY" smtClean="0"/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90A9-14A6-4EAD-9917-54BB6C627600}" type="slidenum">
              <a:rPr lang="en-MY" smtClean="0"/>
            </a:fld>
            <a:endParaRPr lang="en-MY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06E5-BF97-4BAF-A26B-BE2378DD6B68}" type="datetimeFigureOut">
              <a:rPr lang="en-MY" smtClean="0"/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90A9-14A6-4EAD-9917-54BB6C627600}" type="slidenum">
              <a:rPr lang="en-MY" smtClean="0"/>
            </a:fld>
            <a:endParaRPr lang="en-M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06E5-BF97-4BAF-A26B-BE2378DD6B68}" type="datetimeFigureOut">
              <a:rPr lang="en-MY" smtClean="0"/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90A9-14A6-4EAD-9917-54BB6C627600}" type="slidenum">
              <a:rPr lang="en-MY" smtClean="0"/>
            </a:fld>
            <a:endParaRPr lang="en-M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06E5-BF97-4BAF-A26B-BE2378DD6B68}" type="datetimeFigureOut">
              <a:rPr lang="en-MY" smtClean="0"/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90A9-14A6-4EAD-9917-54BB6C627600}" type="slidenum">
              <a:rPr lang="en-MY" smtClean="0"/>
            </a:fld>
            <a:endParaRPr lang="en-MY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06E5-BF97-4BAF-A26B-BE2378DD6B68}" type="datetimeFigureOut">
              <a:rPr lang="en-MY" smtClean="0"/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90A9-14A6-4EAD-9917-54BB6C627600}" type="slidenum">
              <a:rPr lang="en-MY" smtClean="0"/>
            </a:fld>
            <a:endParaRPr lang="en-M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06E5-BF97-4BAF-A26B-BE2378DD6B68}" type="datetimeFigureOut">
              <a:rPr lang="en-MY" smtClean="0"/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90A9-14A6-4EAD-9917-54BB6C627600}" type="slidenum">
              <a:rPr lang="en-MY" smtClean="0"/>
            </a:fld>
            <a:endParaRPr lang="en-M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A06E5-BF97-4BAF-A26B-BE2378DD6B68}" type="datetimeFigureOut">
              <a:rPr lang="en-MY" smtClean="0"/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90A9-14A6-4EAD-9917-54BB6C627600}" type="slidenum">
              <a:rPr lang="en-MY" smtClean="0"/>
            </a:fld>
            <a:endParaRPr lang="en-M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A06E5-BF97-4BAF-A26B-BE2378DD6B68}" type="datetimeFigureOut">
              <a:rPr lang="en-MY" smtClean="0"/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290A9-14A6-4EAD-9917-54BB6C627600}" type="slidenum">
              <a:rPr lang="en-MY" smtClean="0"/>
            </a:fld>
            <a:endParaRPr lang="en-M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hyperlink" Target="mailto:elmiazlina@ukm.edu.my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340430"/>
            <a:ext cx="4245429" cy="220636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700" b="1" kern="1200" dirty="0">
                <a:solidFill>
                  <a:schemeClr val="tx1"/>
                </a:solidFill>
                <a:latin typeface="Amasis MT Pro Black" panose="02040A04050005020304" pitchFamily="18" charset="0"/>
              </a:rPr>
              <a:t>TAKLIMAT TUGASAN SUBJEK PEMBANGUNAN JATI DIRI</a:t>
            </a:r>
            <a:endParaRPr lang="en-US" sz="3700" b="1" kern="1200" dirty="0">
              <a:solidFill>
                <a:schemeClr val="tx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033" name="Freeform 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5920619" cy="2130951"/>
          </a:xfrm>
          <a:custGeom>
            <a:avLst/>
            <a:gdLst>
              <a:gd name="connsiteX0" fmla="*/ 0 w 5920619"/>
              <a:gd name="connsiteY0" fmla="*/ 0 h 2130951"/>
              <a:gd name="connsiteX1" fmla="*/ 3191370 w 5920619"/>
              <a:gd name="connsiteY1" fmla="*/ 0 h 2130951"/>
              <a:gd name="connsiteX2" fmla="*/ 3346315 w 5920619"/>
              <a:gd name="connsiteY2" fmla="*/ 0 h 2130951"/>
              <a:gd name="connsiteX3" fmla="*/ 5920619 w 5920619"/>
              <a:gd name="connsiteY3" fmla="*/ 0 h 2130951"/>
              <a:gd name="connsiteX4" fmla="*/ 4936971 w 5920619"/>
              <a:gd name="connsiteY4" fmla="*/ 2130951 h 2130951"/>
              <a:gd name="connsiteX5" fmla="*/ 0 w 5920619"/>
              <a:gd name="connsiteY5" fmla="*/ 2130951 h 2130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0619" h="2130951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8" name="Picture 4" descr="Rukun Negara sebagai asas bina jati diri bangs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85115" y="981588"/>
            <a:ext cx="5466806" cy="3061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266810" y="4683319"/>
            <a:ext cx="5925190" cy="2174681"/>
          </a:xfrm>
          <a:custGeom>
            <a:avLst/>
            <a:gdLst>
              <a:gd name="connsiteX0" fmla="*/ 1007162 w 5925190"/>
              <a:gd name="connsiteY0" fmla="*/ 0 h 2174681"/>
              <a:gd name="connsiteX1" fmla="*/ 5925190 w 5925190"/>
              <a:gd name="connsiteY1" fmla="*/ 0 h 2174681"/>
              <a:gd name="connsiteX2" fmla="*/ 5925190 w 5925190"/>
              <a:gd name="connsiteY2" fmla="*/ 2174681 h 2174681"/>
              <a:gd name="connsiteX3" fmla="*/ 0 w 5925190"/>
              <a:gd name="connsiteY3" fmla="*/ 2174681 h 217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2174681">
                <a:moveTo>
                  <a:pt x="1007162" y="0"/>
                </a:moveTo>
                <a:lnTo>
                  <a:pt x="5925190" y="0"/>
                </a:lnTo>
                <a:lnTo>
                  <a:pt x="5925190" y="2174681"/>
                </a:lnTo>
                <a:lnTo>
                  <a:pt x="0" y="217468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7" name="Freeform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4683319"/>
            <a:ext cx="7092887" cy="2174681"/>
          </a:xfrm>
          <a:custGeom>
            <a:avLst/>
            <a:gdLst>
              <a:gd name="connsiteX0" fmla="*/ 0 w 7092887"/>
              <a:gd name="connsiteY0" fmla="*/ 0 h 2174681"/>
              <a:gd name="connsiteX1" fmla="*/ 7092887 w 7092887"/>
              <a:gd name="connsiteY1" fmla="*/ 0 h 2174681"/>
              <a:gd name="connsiteX2" fmla="*/ 6085725 w 7092887"/>
              <a:gd name="connsiteY2" fmla="*/ 2174681 h 2174681"/>
              <a:gd name="connsiteX3" fmla="*/ 1524000 w 7092887"/>
              <a:gd name="connsiteY3" fmla="*/ 2174681 h 2174681"/>
              <a:gd name="connsiteX4" fmla="*/ 1200418 w 7092887"/>
              <a:gd name="connsiteY4" fmla="*/ 2174681 h 2174681"/>
              <a:gd name="connsiteX5" fmla="*/ 0 w 7092887"/>
              <a:gd name="connsiteY5" fmla="*/ 2174681 h 217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92887" h="2174681">
                <a:moveTo>
                  <a:pt x="0" y="0"/>
                </a:moveTo>
                <a:lnTo>
                  <a:pt x="7092887" y="0"/>
                </a:lnTo>
                <a:lnTo>
                  <a:pt x="6085725" y="2174681"/>
                </a:lnTo>
                <a:lnTo>
                  <a:pt x="1524000" y="2174681"/>
                </a:lnTo>
                <a:lnTo>
                  <a:pt x="1200418" y="2174681"/>
                </a:lnTo>
                <a:lnTo>
                  <a:pt x="0" y="2174681"/>
                </a:lnTo>
                <a:close/>
              </a:path>
            </a:pathLst>
          </a:custGeom>
          <a:solidFill>
            <a:srgbClr val="B2B2B2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B2B2B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MY" sz="3600" b="1" dirty="0"/>
              <a:t>MAKLUMAT PENSYARAH</a:t>
            </a:r>
            <a:endParaRPr lang="en-MY" sz="3600" b="1" dirty="0"/>
          </a:p>
        </p:txBody>
      </p:sp>
      <p:sp>
        <p:nvSpPr>
          <p:cNvPr id="11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sz="2200" dirty="0"/>
              <a:t>To’ Puan Dr Tengku Elmi </a:t>
            </a:r>
            <a:r>
              <a:rPr lang="en-MY" sz="2200" dirty="0" err="1"/>
              <a:t>Azlina</a:t>
            </a:r>
            <a:r>
              <a:rPr lang="en-MY" sz="2200" dirty="0"/>
              <a:t> Tengku Muda</a:t>
            </a:r>
            <a:endParaRPr lang="en-MY" sz="2200" dirty="0"/>
          </a:p>
          <a:p>
            <a:pPr marL="0" indent="0">
              <a:buNone/>
            </a:pPr>
            <a:r>
              <a:rPr lang="en-MY" sz="2200" dirty="0"/>
              <a:t>EMAIL: </a:t>
            </a:r>
            <a:r>
              <a:rPr lang="en-MY" sz="2200" dirty="0">
                <a:hlinkClick r:id="rId1"/>
              </a:rPr>
              <a:t>elmiazlina@ukm.edu.my</a:t>
            </a:r>
            <a:endParaRPr lang="en-MY" sz="2200" dirty="0"/>
          </a:p>
          <a:p>
            <a:pPr marL="0" indent="0">
              <a:buNone/>
            </a:pPr>
            <a:r>
              <a:rPr lang="en-MY" sz="2200" dirty="0"/>
              <a:t>H/P: 0135334573</a:t>
            </a:r>
            <a:endParaRPr lang="en-MY" sz="2200" dirty="0"/>
          </a:p>
          <a:p>
            <a:pPr marL="0" indent="0">
              <a:buNone/>
            </a:pPr>
            <a:endParaRPr lang="en-MY" sz="2200" dirty="0"/>
          </a:p>
          <a:p>
            <a:pPr marL="0" indent="0">
              <a:buNone/>
            </a:pPr>
            <a:endParaRPr lang="en-MY" sz="2200" dirty="0"/>
          </a:p>
        </p:txBody>
      </p:sp>
      <p:pic>
        <p:nvPicPr>
          <p:cNvPr id="5" name="Picture 4" descr="Sunlit desk"/>
          <p:cNvPicPr>
            <a:picLocks noChangeAspect="1"/>
          </p:cNvPicPr>
          <p:nvPr/>
        </p:nvPicPr>
        <p:blipFill rotWithShape="1">
          <a:blip r:embed="rId2"/>
          <a:srcRect l="12402" r="20645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PENTAKSIRAN BERTERUSAN</a:t>
            </a:r>
            <a:endParaRPr lang="en-MY" b="1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ph idx="1"/>
          </p:nvPr>
        </p:nvGraphicFramePr>
        <p:xfrm>
          <a:off x="838200" y="1835150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465"/>
                <a:gridCol w="6368933"/>
                <a:gridCol w="3505199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BIL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AKTIVITI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MARKAH</a:t>
                      </a:r>
                      <a:endParaRPr lang="en-MY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Tugasan</a:t>
                      </a:r>
                      <a:r>
                        <a:rPr lang="en-GB" dirty="0"/>
                        <a:t> Sosial </a:t>
                      </a:r>
                      <a:r>
                        <a:rPr lang="en-GB" dirty="0" err="1"/>
                        <a:t>Eksperimen</a:t>
                      </a:r>
                      <a:r>
                        <a:rPr lang="en-US" altLang="en-GB" dirty="0" err="1"/>
                        <a:t> (Kump)</a:t>
                      </a:r>
                      <a:endParaRPr lang="en-US" altLang="en-GB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25%</a:t>
                      </a:r>
                      <a:endParaRPr lang="en-MY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MY" dirty="0"/>
                        <a:t>Aktiviti “ Misi Diri: Tindakan kecil, jiwa besar (Ind)</a:t>
                      </a:r>
                      <a:endParaRPr lang="en-US" alt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25%</a:t>
                      </a:r>
                      <a:endParaRPr lang="en-MY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Seminar Pembangunan Jati </a:t>
                      </a:r>
                      <a:r>
                        <a:rPr lang="en-GB" dirty="0" err="1"/>
                        <a:t>Diri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Pelajar</a:t>
                      </a:r>
                      <a:r>
                        <a:rPr lang="en-US" altLang="en-GB" dirty="0" err="1"/>
                        <a:t> ( Kump)</a:t>
                      </a:r>
                      <a:endParaRPr lang="en-US" altLang="en-GB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25%</a:t>
                      </a:r>
                      <a:endParaRPr lang="en-MY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MY" dirty="0"/>
                        <a:t>Tugasan Suara Anak Muda Untuk Negara (Kump)</a:t>
                      </a:r>
                      <a:endParaRPr lang="en-US" alt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25%</a:t>
                      </a:r>
                      <a:endParaRPr lang="en-MY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JUMLAH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100%</a:t>
                      </a:r>
                      <a:endParaRPr lang="en-MY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4600" b="1" dirty="0">
                <a:latin typeface="Amasis MT Pro Black" panose="02040A04050005020304" pitchFamily="18" charset="0"/>
              </a:rPr>
              <a:t>TUGASAN SOSIAL  EKSPERIMEN</a:t>
            </a:r>
            <a:br>
              <a:rPr lang="en-US" sz="4600" b="1" dirty="0">
                <a:latin typeface="Amasis MT Pro Black" panose="02040A04050005020304" pitchFamily="18" charset="0"/>
              </a:rPr>
            </a:br>
            <a:r>
              <a:rPr lang="en-US" sz="4600" b="1" dirty="0">
                <a:latin typeface="Amasis MT Pro Black" panose="02040A04050005020304" pitchFamily="18" charset="0"/>
              </a:rPr>
              <a:t> ( 25%)</a:t>
            </a:r>
            <a:endParaRPr lang="en-US" sz="4600" b="1" dirty="0">
              <a:latin typeface="Amasis MT Pro Black" panose="02040A04050005020304" pitchFamily="18" charset="0"/>
            </a:endParaRPr>
          </a:p>
        </p:txBody>
      </p:sp>
      <p:sp>
        <p:nvSpPr>
          <p:cNvPr id="10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1700"/>
              <a:t>Berdasarkan kumpulan yang telah dibentuk (6-7 Orang mengikut set masing-masing), anda dikehendaki merancang satu aktiviti/program yang  bertujuan untuk mengenalpasti sejauhmana tahap kesedaran jati diri masyarakat. </a:t>
            </a:r>
            <a:endParaRPr lang="en-US" sz="1700"/>
          </a:p>
          <a:p>
            <a:r>
              <a:rPr lang="en-US" sz="1700"/>
              <a:t>Aktiviti yang dipilih untuk eksperimen sosial perlu berdasarkan tema-tema berikut:</a:t>
            </a:r>
            <a:endParaRPr lang="en-US" sz="1700"/>
          </a:p>
          <a:p>
            <a:pPr marL="0" indent="0">
              <a:buNone/>
            </a:pPr>
            <a:r>
              <a:rPr lang="en-US" sz="1700"/>
              <a:t>a) Penghayatan Bahasa Kebangsaan</a:t>
            </a:r>
            <a:endParaRPr lang="en-US" sz="1700"/>
          </a:p>
          <a:p>
            <a:pPr marL="0" indent="0">
              <a:buNone/>
            </a:pPr>
            <a:r>
              <a:rPr lang="en-US" sz="1700"/>
              <a:t>b) Penghayatan  agama, adat dan budaya kaum</a:t>
            </a:r>
            <a:endParaRPr lang="en-US" sz="1700"/>
          </a:p>
          <a:p>
            <a:pPr marL="0" indent="0">
              <a:buNone/>
            </a:pPr>
            <a:r>
              <a:rPr lang="en-US" sz="1700"/>
              <a:t>c) Semangat Patriotisme</a:t>
            </a:r>
            <a:endParaRPr lang="en-US" sz="1700"/>
          </a:p>
          <a:p>
            <a:pPr marL="0" indent="0">
              <a:buNone/>
            </a:pPr>
            <a:r>
              <a:rPr lang="en-US" sz="1700"/>
              <a:t>d) Perpaduan Kaum</a:t>
            </a:r>
            <a:endParaRPr lang="en-US" sz="1700"/>
          </a:p>
          <a:p>
            <a:pPr marL="0" indent="0">
              <a:buNone/>
            </a:pPr>
            <a:r>
              <a:rPr lang="en-US" sz="1700"/>
              <a:t>e) Isu-Isu sosio emosi  dan tingkahlaku remaja</a:t>
            </a:r>
            <a:endParaRPr lang="en-US" sz="1700"/>
          </a:p>
          <a:p>
            <a:pPr marL="0" indent="0">
              <a:buNone/>
            </a:pPr>
            <a:r>
              <a:rPr lang="en-US" sz="1700"/>
              <a:t>f) Kesedaran politik</a:t>
            </a:r>
            <a:endParaRPr lang="en-US" sz="1700"/>
          </a:p>
          <a:p>
            <a:pPr marL="0" indent="0">
              <a:buNone/>
            </a:pPr>
            <a:r>
              <a:rPr lang="en-US" sz="1700"/>
              <a:t>g) Etika/Peraturan sosial</a:t>
            </a:r>
            <a:endParaRPr lang="en-US" sz="1700"/>
          </a:p>
          <a:p>
            <a:pPr marL="0" indent="0">
              <a:buNone/>
            </a:pPr>
            <a:r>
              <a:rPr lang="en-US" sz="1700"/>
              <a:t>h) Perlembagaan Malaysia</a:t>
            </a:r>
            <a:endParaRPr lang="en-US" sz="1700"/>
          </a:p>
          <a:p>
            <a:pPr marL="0" indent="0">
              <a:buNone/>
            </a:pPr>
            <a:r>
              <a:rPr lang="en-US" sz="1700"/>
              <a:t>i) Kesedaran dan amalan jati diri</a:t>
            </a:r>
            <a:endParaRPr lang="en-US" sz="1700"/>
          </a:p>
          <a:p>
            <a:pPr marL="0" indent="0">
              <a:buNone/>
            </a:pPr>
            <a:endParaRPr lang="en-US" sz="1700"/>
          </a:p>
          <a:p>
            <a:pPr>
              <a:buAutoNum type="alphaLcParenR"/>
            </a:pPr>
            <a:endParaRPr lang="en-US" sz="1700" b="1"/>
          </a:p>
          <a:p>
            <a:pPr>
              <a:buAutoNum type="alphaLcParenR"/>
            </a:pPr>
            <a:endParaRPr lang="en-US" sz="1700" b="1"/>
          </a:p>
          <a:p>
            <a:pPr>
              <a:buAutoNum type="alphaLcParenR"/>
            </a:pPr>
            <a:endParaRPr lang="en-US" sz="1700" b="1"/>
          </a:p>
          <a:p>
            <a:pPr>
              <a:buAutoNum type="alphaLcParenR"/>
            </a:pPr>
            <a:endParaRPr lang="en-US" sz="1700" b="1"/>
          </a:p>
          <a:p>
            <a:pPr>
              <a:buAutoNum type="alphaLcParenR"/>
            </a:pPr>
            <a:endParaRPr lang="en-US" sz="1700" b="1"/>
          </a:p>
          <a:p>
            <a:pPr>
              <a:buAutoNum type="alphaLcParenR"/>
            </a:pPr>
            <a:endParaRPr lang="en-US" sz="1700" b="1"/>
          </a:p>
          <a:p>
            <a:pPr marL="0" indent="0">
              <a:buNone/>
            </a:pPr>
            <a:endParaRPr lang="en-US" sz="1700" b="1"/>
          </a:p>
          <a:p>
            <a:pPr marL="0" indent="0">
              <a:buNone/>
            </a:pPr>
            <a:endParaRPr lang="en-US"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MY" sz="5400">
                <a:latin typeface="Amasis MT Pro Black" panose="02040A04050005020304" pitchFamily="18" charset="0"/>
              </a:rPr>
              <a:t>FORMAT PROPOSAL</a:t>
            </a:r>
            <a:endParaRPr lang="en-MY" sz="5400">
              <a:latin typeface="Amasis MT Pro Black" panose="02040A04050005020304" pitchFamily="18" charset="0"/>
            </a:endParaRPr>
          </a:p>
        </p:txBody>
      </p:sp>
      <p:sp>
        <p:nvSpPr>
          <p:cNvPr id="10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Anda </a:t>
            </a:r>
            <a:r>
              <a:rPr lang="en-US" sz="1400" b="1" dirty="0" err="1"/>
              <a:t>dikehendaki</a:t>
            </a:r>
            <a:r>
              <a:rPr lang="en-US" sz="1400" b="1" dirty="0"/>
              <a:t> </a:t>
            </a:r>
            <a:r>
              <a:rPr lang="en-US" sz="1400" b="1" dirty="0" err="1"/>
              <a:t>menyediakan</a:t>
            </a:r>
            <a:r>
              <a:rPr lang="en-US" sz="1400" b="1" dirty="0"/>
              <a:t> </a:t>
            </a:r>
            <a:r>
              <a:rPr lang="en-US" sz="1400" b="1" dirty="0" err="1"/>
              <a:t>satu</a:t>
            </a:r>
            <a:r>
              <a:rPr lang="en-US" sz="1400" b="1" dirty="0"/>
              <a:t> proposal </a:t>
            </a:r>
            <a:r>
              <a:rPr lang="en-US" sz="1400" b="1" dirty="0" err="1"/>
              <a:t>ringkas</a:t>
            </a:r>
            <a:r>
              <a:rPr lang="en-US" sz="1400" b="1" dirty="0"/>
              <a:t> ( 2 m/s)  yang </a:t>
            </a:r>
            <a:r>
              <a:rPr lang="en-US" sz="1400" b="1" dirty="0" err="1"/>
              <a:t>mengandungi</a:t>
            </a:r>
            <a:r>
              <a:rPr lang="en-US" sz="1400" b="1" dirty="0"/>
              <a:t> </a:t>
            </a:r>
            <a:r>
              <a:rPr lang="en-US" sz="1400" b="1" dirty="0" err="1"/>
              <a:t>maklumat-maklumat</a:t>
            </a:r>
            <a:r>
              <a:rPr lang="en-US" sz="1400" b="1" dirty="0"/>
              <a:t> </a:t>
            </a:r>
            <a:r>
              <a:rPr lang="en-US" sz="1400" b="1" dirty="0" err="1"/>
              <a:t>berikut</a:t>
            </a:r>
            <a:r>
              <a:rPr lang="en-US" sz="1400" b="1" dirty="0"/>
              <a:t>:-</a:t>
            </a: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a) </a:t>
            </a:r>
            <a:r>
              <a:rPr lang="en-US" sz="1400" b="1" dirty="0" err="1"/>
              <a:t>Tajuk</a:t>
            </a:r>
            <a:r>
              <a:rPr lang="en-US" sz="1400" b="1" dirty="0"/>
              <a:t> </a:t>
            </a:r>
            <a:r>
              <a:rPr lang="en-US" sz="1400" b="1" dirty="0" err="1"/>
              <a:t>Aktiviti</a:t>
            </a:r>
            <a:r>
              <a:rPr lang="en-US" sz="1400" b="1" dirty="0"/>
              <a:t>								f) Lokasi/ </a:t>
            </a:r>
            <a:r>
              <a:rPr lang="en-US" sz="1400" b="1" dirty="0" err="1"/>
              <a:t>Sampel</a:t>
            </a:r>
            <a:r>
              <a:rPr lang="en-US" sz="1400" b="1" dirty="0"/>
              <a:t> </a:t>
            </a:r>
            <a:r>
              <a:rPr lang="en-US" sz="1400" b="1" dirty="0" err="1"/>
              <a:t>kajian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b) </a:t>
            </a:r>
            <a:r>
              <a:rPr lang="en-US" sz="1400" b="1" dirty="0" err="1"/>
              <a:t>Pendahuluan</a:t>
            </a:r>
            <a:r>
              <a:rPr lang="en-US" sz="1400" b="1" dirty="0"/>
              <a:t>								g) </a:t>
            </a:r>
            <a:r>
              <a:rPr lang="en-US" sz="1400" b="1" dirty="0" err="1"/>
              <a:t>Prosedur</a:t>
            </a:r>
            <a:r>
              <a:rPr lang="en-US" sz="1400" b="1" dirty="0"/>
              <a:t> </a:t>
            </a:r>
            <a:r>
              <a:rPr lang="en-US" sz="1400" b="1" dirty="0" err="1"/>
              <a:t>aktiviti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c) </a:t>
            </a:r>
            <a:r>
              <a:rPr lang="en-US" sz="1400" b="1" dirty="0" err="1"/>
              <a:t>Permasalahan</a:t>
            </a:r>
            <a:r>
              <a:rPr lang="en-US" sz="1400" b="1" dirty="0"/>
              <a:t> </a:t>
            </a:r>
            <a:r>
              <a:rPr lang="en-US" sz="1400" b="1" dirty="0" err="1"/>
              <a:t>kajian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d) </a:t>
            </a:r>
            <a:r>
              <a:rPr lang="en-US" sz="1400" b="1" dirty="0" err="1"/>
              <a:t>Objektif</a:t>
            </a:r>
            <a:r>
              <a:rPr lang="en-US" sz="1400" b="1" dirty="0"/>
              <a:t> Kajian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-</a:t>
            </a:r>
            <a:r>
              <a:rPr lang="en-US" sz="1400" b="1" dirty="0" err="1"/>
              <a:t>Untuk</a:t>
            </a:r>
            <a:r>
              <a:rPr lang="en-US" sz="1400" b="1" dirty="0"/>
              <a:t> </a:t>
            </a:r>
            <a:r>
              <a:rPr lang="en-US" sz="1400" b="1" dirty="0" err="1"/>
              <a:t>mengenalpati</a:t>
            </a:r>
            <a:r>
              <a:rPr lang="en-US" sz="1400" b="1" dirty="0"/>
              <a:t>….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-</a:t>
            </a:r>
            <a:r>
              <a:rPr lang="en-US" sz="1400" b="1" dirty="0" err="1"/>
              <a:t>Untuk</a:t>
            </a:r>
            <a:r>
              <a:rPr lang="en-US" sz="1400" b="1" dirty="0"/>
              <a:t> </a:t>
            </a:r>
            <a:r>
              <a:rPr lang="en-US" sz="1400" b="1" dirty="0" err="1"/>
              <a:t>mengenalpasti</a:t>
            </a:r>
            <a:r>
              <a:rPr lang="en-US" sz="1400" b="1" dirty="0"/>
              <a:t>…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e) </a:t>
            </a:r>
            <a:r>
              <a:rPr lang="en-US" sz="1400" b="1" dirty="0" err="1"/>
              <a:t>Kaedah</a:t>
            </a:r>
            <a:r>
              <a:rPr lang="en-US" sz="1400" b="1" dirty="0"/>
              <a:t> Kajian</a:t>
            </a:r>
            <a:endParaRPr lang="en-US" sz="1400" b="1" dirty="0"/>
          </a:p>
          <a:p>
            <a:pPr>
              <a:buFontTx/>
              <a:buChar char="-"/>
            </a:pPr>
            <a:r>
              <a:rPr lang="en-US" sz="1400" b="1" dirty="0" err="1"/>
              <a:t>Temubual</a:t>
            </a:r>
            <a:r>
              <a:rPr lang="en-US" sz="1400" b="1" dirty="0"/>
              <a:t>	- </a:t>
            </a:r>
            <a:r>
              <a:rPr lang="en-US" sz="1400" b="1" dirty="0" err="1"/>
              <a:t>Rakaman</a:t>
            </a:r>
            <a:r>
              <a:rPr lang="en-US" sz="1400" b="1" dirty="0"/>
              <a:t> video</a:t>
            </a:r>
            <a:endParaRPr lang="en-US" sz="1400" b="1" dirty="0"/>
          </a:p>
          <a:p>
            <a:pPr>
              <a:buFontTx/>
              <a:buChar char="-"/>
            </a:pPr>
            <a:r>
              <a:rPr lang="en-US" sz="1400" b="1" dirty="0" err="1"/>
              <a:t>Pemerhatian</a:t>
            </a:r>
            <a:r>
              <a:rPr lang="en-US" sz="1400" b="1" dirty="0"/>
              <a:t>	- </a:t>
            </a:r>
            <a:r>
              <a:rPr lang="en-US" sz="1400" b="1" dirty="0" err="1"/>
              <a:t>Soal</a:t>
            </a:r>
            <a:r>
              <a:rPr lang="en-US" sz="1400" b="1" dirty="0"/>
              <a:t> </a:t>
            </a:r>
            <a:r>
              <a:rPr lang="en-US" sz="1400" b="1" dirty="0" err="1"/>
              <a:t>selidik</a:t>
            </a: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*</a:t>
            </a:r>
            <a:r>
              <a:rPr lang="en-US" sz="1400" b="1" dirty="0" err="1"/>
              <a:t>Lampirkan</a:t>
            </a:r>
            <a:r>
              <a:rPr lang="en-US" sz="1400" b="1" dirty="0"/>
              <a:t> </a:t>
            </a:r>
            <a:r>
              <a:rPr lang="en-US" sz="1400" b="1" dirty="0" err="1"/>
              <a:t>soal</a:t>
            </a:r>
            <a:r>
              <a:rPr lang="en-US" sz="1400" b="1" dirty="0"/>
              <a:t> </a:t>
            </a:r>
            <a:r>
              <a:rPr lang="en-US" sz="1400" b="1" dirty="0" err="1"/>
              <a:t>selidik</a:t>
            </a:r>
            <a:r>
              <a:rPr lang="en-US" sz="1400" b="1" dirty="0"/>
              <a:t>/</a:t>
            </a:r>
            <a:r>
              <a:rPr lang="en-US" sz="1400" b="1" dirty="0" err="1"/>
              <a:t>temubual</a:t>
            </a:r>
            <a:r>
              <a:rPr lang="en-US" sz="1400" b="1" dirty="0"/>
              <a:t> dan lain-lain </a:t>
            </a:r>
            <a:endParaRPr lang="en-US" sz="1400" b="1" dirty="0"/>
          </a:p>
          <a:p>
            <a:pPr>
              <a:buFontTx/>
              <a:buChar char="-"/>
            </a:pPr>
            <a:endParaRPr lang="en-MY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b="1">
                <a:latin typeface="Amasis MT Pro Black" panose="02040A04050005020304" pitchFamily="18" charset="0"/>
              </a:rPr>
              <a:t>FORMAT LAPORAN SOSIAL EKSPERIMEN</a:t>
            </a:r>
            <a:endParaRPr lang="en-US" sz="4200" b="1">
              <a:latin typeface="Amasis MT Pro Black" panose="02040A04050005020304" pitchFamily="18" charset="0"/>
            </a:endParaRPr>
          </a:p>
        </p:txBody>
      </p:sp>
      <p:sp>
        <p:nvSpPr>
          <p:cNvPr id="10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20000"/>
          </a:bodyPr>
          <a:lstStyle/>
          <a:p>
            <a:r>
              <a:rPr lang="en-US" sz="1400" b="1" dirty="0"/>
              <a:t>COVER 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/>
              <a:t>a) </a:t>
            </a:r>
            <a:r>
              <a:rPr lang="en-US" sz="1400" dirty="0" err="1"/>
              <a:t>Tajuk</a:t>
            </a:r>
            <a:r>
              <a:rPr lang="en-US" sz="1400" dirty="0"/>
              <a:t> </a:t>
            </a:r>
            <a:r>
              <a:rPr lang="en-US" sz="1400" dirty="0" err="1"/>
              <a:t>Aktiviti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b) Lokasi </a:t>
            </a:r>
            <a:r>
              <a:rPr lang="en-US" sz="1400" dirty="0" err="1"/>
              <a:t>Aktiviti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c) Nama </a:t>
            </a:r>
            <a:r>
              <a:rPr lang="en-US" sz="1400" dirty="0" err="1"/>
              <a:t>pensyarah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c) Nama Ahli Kumpulan/ set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r>
              <a:rPr lang="en-US" sz="1400" b="1" dirty="0"/>
              <a:t>KANDUNGAN LAPORAN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/>
              <a:t>1.0 Isi </a:t>
            </a:r>
            <a:r>
              <a:rPr lang="en-US" sz="1400" dirty="0" err="1"/>
              <a:t>kandungan</a:t>
            </a:r>
            <a:r>
              <a:rPr lang="en-US" sz="1400" dirty="0"/>
              <a:t>	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1.1 </a:t>
            </a:r>
            <a:r>
              <a:rPr lang="en-US" sz="1400" dirty="0" err="1"/>
              <a:t>Pendahuluan</a:t>
            </a:r>
            <a:r>
              <a:rPr lang="en-US" sz="1400" dirty="0"/>
              <a:t>		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1.2 </a:t>
            </a:r>
            <a:r>
              <a:rPr lang="en-US" sz="1400" dirty="0" err="1"/>
              <a:t>Objektif</a:t>
            </a:r>
            <a:r>
              <a:rPr lang="en-US" sz="1400" dirty="0"/>
              <a:t>				1.5  </a:t>
            </a:r>
            <a:r>
              <a:rPr lang="en-US" sz="1400" dirty="0" err="1"/>
              <a:t>Analisis</a:t>
            </a:r>
            <a:r>
              <a:rPr lang="en-US" sz="1400" dirty="0"/>
              <a:t> </a:t>
            </a:r>
            <a:r>
              <a:rPr lang="en-US" sz="1400" dirty="0" err="1"/>
              <a:t>tahap</a:t>
            </a:r>
            <a:r>
              <a:rPr lang="en-US" sz="1400" dirty="0"/>
              <a:t> </a:t>
            </a:r>
            <a:r>
              <a:rPr lang="en-US" sz="1400" dirty="0" err="1"/>
              <a:t>kesedaran</a:t>
            </a:r>
            <a:r>
              <a:rPr lang="en-US" sz="1400" dirty="0"/>
              <a:t> </a:t>
            </a:r>
            <a:r>
              <a:rPr lang="en-US" sz="1400" dirty="0" err="1"/>
              <a:t>jati</a:t>
            </a:r>
            <a:r>
              <a:rPr lang="en-US" sz="1400" dirty="0"/>
              <a:t> </a:t>
            </a:r>
            <a:r>
              <a:rPr lang="en-US" sz="1400" dirty="0" err="1"/>
              <a:t>diri</a:t>
            </a:r>
            <a:r>
              <a:rPr lang="en-US" sz="1400" dirty="0"/>
              <a:t> </a:t>
            </a:r>
            <a:r>
              <a:rPr lang="en-US" sz="1400" dirty="0" err="1"/>
              <a:t>diri</a:t>
            </a:r>
            <a:r>
              <a:rPr lang="en-US" sz="1400" dirty="0"/>
              <a:t> </a:t>
            </a:r>
            <a:r>
              <a:rPr lang="en-US" sz="1400" dirty="0" err="1"/>
              <a:t>berdasarkan</a:t>
            </a:r>
            <a:r>
              <a:rPr lang="en-US" sz="1400" dirty="0"/>
              <a:t> </a:t>
            </a:r>
            <a:r>
              <a:rPr lang="en-US" sz="1400" dirty="0" err="1"/>
              <a:t>aktiviti</a:t>
            </a:r>
            <a:r>
              <a:rPr lang="en-US" sz="1400" dirty="0"/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1.3 </a:t>
            </a:r>
            <a:r>
              <a:rPr lang="en-US" sz="1400" dirty="0" err="1"/>
              <a:t>Permasalahan</a:t>
            </a:r>
            <a:r>
              <a:rPr lang="en-US" sz="1400" dirty="0"/>
              <a:t> Kajian			1.6 </a:t>
            </a:r>
            <a:r>
              <a:rPr lang="en-US" sz="1400" dirty="0" err="1"/>
              <a:t>Pengalaman</a:t>
            </a:r>
            <a:r>
              <a:rPr lang="en-US" sz="1400" dirty="0"/>
              <a:t> yang </a:t>
            </a:r>
            <a:r>
              <a:rPr lang="en-US" sz="1400" dirty="0" err="1"/>
              <a:t>diperolehi</a:t>
            </a:r>
            <a:r>
              <a:rPr lang="en-US" sz="1400" dirty="0"/>
              <a:t> 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aktivitiviti</a:t>
            </a:r>
            <a:r>
              <a:rPr lang="en-US" sz="1400" dirty="0"/>
              <a:t>	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1.4 </a:t>
            </a:r>
            <a:r>
              <a:rPr lang="en-US" sz="1400" dirty="0" err="1"/>
              <a:t>Prosedur</a:t>
            </a:r>
            <a:r>
              <a:rPr lang="en-US" sz="1400" dirty="0"/>
              <a:t> / </a:t>
            </a:r>
            <a:r>
              <a:rPr lang="en-US" sz="1400" dirty="0" err="1"/>
              <a:t>kronologi</a:t>
            </a:r>
            <a:r>
              <a:rPr lang="en-US" sz="1400" dirty="0"/>
              <a:t> </a:t>
            </a:r>
            <a:r>
              <a:rPr lang="en-US" sz="1400" dirty="0" err="1"/>
              <a:t>aktiviti</a:t>
            </a:r>
            <a:r>
              <a:rPr lang="en-US" sz="1400" dirty="0"/>
              <a:t>     	                        1.7 </a:t>
            </a:r>
            <a:r>
              <a:rPr lang="en-US" sz="1400" dirty="0" err="1"/>
              <a:t>Penutup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Sila </a:t>
            </a:r>
            <a:r>
              <a:rPr lang="en-US" sz="1400" dirty="0" err="1"/>
              <a:t>lampirkan</a:t>
            </a:r>
            <a:r>
              <a:rPr lang="en-US" sz="1400" dirty="0"/>
              <a:t> juga proposal </a:t>
            </a:r>
            <a:r>
              <a:rPr lang="en-US" sz="1400" dirty="0" err="1"/>
              <a:t>asal</a:t>
            </a:r>
            <a:r>
              <a:rPr lang="en-US" sz="1400" dirty="0"/>
              <a:t> </a:t>
            </a:r>
            <a:r>
              <a:rPr lang="en-US" sz="1400" dirty="0" err="1"/>
              <a:t>sosial</a:t>
            </a:r>
            <a:r>
              <a:rPr lang="en-US" sz="1400" dirty="0"/>
              <a:t> </a:t>
            </a:r>
            <a:r>
              <a:rPr lang="en-US" sz="1400" dirty="0" err="1"/>
              <a:t>eksperimen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Muka</a:t>
            </a:r>
            <a:r>
              <a:rPr lang="en-US" sz="1400" dirty="0"/>
              <a:t> </a:t>
            </a:r>
            <a:r>
              <a:rPr lang="en-US" sz="1400" dirty="0" err="1"/>
              <a:t>surat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10 </a:t>
            </a:r>
            <a:r>
              <a:rPr lang="en-US" sz="1400" dirty="0" err="1"/>
              <a:t>Muka</a:t>
            </a:r>
            <a:r>
              <a:rPr lang="en-US" sz="1400" dirty="0"/>
              <a:t> Surat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Perlu</a:t>
            </a:r>
            <a:r>
              <a:rPr lang="en-US" sz="1400" dirty="0"/>
              <a:t> </a:t>
            </a:r>
            <a:r>
              <a:rPr lang="en-US" sz="1400" dirty="0" err="1"/>
              <a:t>sediakan</a:t>
            </a:r>
            <a:r>
              <a:rPr lang="en-US" sz="1400" dirty="0"/>
              <a:t> </a:t>
            </a:r>
            <a:r>
              <a:rPr lang="en-US" sz="1400" dirty="0" err="1"/>
              <a:t>bukti</a:t>
            </a:r>
            <a:r>
              <a:rPr lang="en-US" sz="1400" dirty="0"/>
              <a:t> video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gambar-gambar</a:t>
            </a:r>
            <a:r>
              <a:rPr lang="en-US" sz="1400" dirty="0"/>
              <a:t> </a:t>
            </a:r>
            <a:r>
              <a:rPr lang="en-US" sz="1400" dirty="0" err="1"/>
              <a:t>aktiviti</a:t>
            </a:r>
            <a:endParaRPr lang="en-US" sz="1400" dirty="0"/>
          </a:p>
          <a:p>
            <a:pPr marL="0" indent="0">
              <a:buNone/>
            </a:pPr>
            <a:endParaRPr lang="en-US" sz="1000" dirty="0"/>
          </a:p>
          <a:p>
            <a:pPr>
              <a:buFontTx/>
              <a:buChar char="-"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4" name="Rectangle 41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5393360" cy="1325563"/>
          </a:xfrm>
        </p:spPr>
        <p:txBody>
          <a:bodyPr>
            <a:normAutofit fontScale="90000"/>
          </a:bodyPr>
          <a:lstStyle/>
          <a:p>
            <a:r>
              <a:rPr lang="en-US" altLang="en-MY" sz="3200" dirty="0">
                <a:latin typeface="Amasis MT Pro Black" panose="02040A04050005020304" pitchFamily="18" charset="0"/>
              </a:rPr>
              <a:t>TUGASAN SUARA ANAK MUDA UNTUK NEGARA</a:t>
            </a:r>
            <a:endParaRPr lang="en-US" altLang="en-MY" sz="3200" dirty="0">
              <a:latin typeface="Amasis MT Pro Black" panose="02040A04050005020304" pitchFamily="18" charset="0"/>
            </a:endParaRPr>
          </a:p>
        </p:txBody>
      </p:sp>
      <p:sp>
        <p:nvSpPr>
          <p:cNvPr id="4116" name="Freeform: Shape 41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 lnSpcReduction="20000"/>
          </a:bodyPr>
          <a:lstStyle/>
          <a:p>
            <a:r>
              <a:rPr lang="en-GB" sz="2400" dirty="0"/>
              <a:t> </a:t>
            </a:r>
            <a:r>
              <a:rPr lang="en-GB" sz="2400" dirty="0" err="1"/>
              <a:t>Tugasan</a:t>
            </a:r>
            <a:r>
              <a:rPr lang="en-GB" sz="2400" dirty="0"/>
              <a:t> </a:t>
            </a:r>
            <a:r>
              <a:rPr lang="en-GB" sz="2400" dirty="0" err="1"/>
              <a:t>ini</a:t>
            </a:r>
            <a:r>
              <a:rPr lang="en-GB" sz="2400" dirty="0"/>
              <a:t> </a:t>
            </a:r>
            <a:r>
              <a:rPr lang="en-GB" sz="2400" dirty="0" err="1"/>
              <a:t>adalah</a:t>
            </a:r>
            <a:r>
              <a:rPr lang="en-GB" sz="2400" dirty="0"/>
              <a:t> </a:t>
            </a:r>
            <a:r>
              <a:rPr lang="en-GB" sz="2400" dirty="0" err="1"/>
              <a:t>berbentuk</a:t>
            </a:r>
            <a:r>
              <a:rPr lang="en-GB" sz="2400" dirty="0"/>
              <a:t> </a:t>
            </a:r>
            <a:r>
              <a:rPr lang="en-US" altLang="en-GB" sz="2400" dirty="0"/>
              <a:t>kumpulan ( Maksimum 5 orang)</a:t>
            </a:r>
            <a:endParaRPr lang="en-GB" sz="2400" dirty="0"/>
          </a:p>
          <a:p>
            <a:r>
              <a:rPr lang="en-US" altLang="en-GB" sz="2400" dirty="0"/>
              <a:t>Setiap kumpulan pilih satu isu semasa dalam negara. Kaji sebab, kesan dan nilai jati diri berkaitan.  Bentangkan di dalam kelas. </a:t>
            </a:r>
            <a:endParaRPr lang="en-US" altLang="en-GB" sz="2400" dirty="0"/>
          </a:p>
          <a:p>
            <a:r>
              <a:rPr lang="en-US" altLang="en-GB" sz="2400" dirty="0"/>
              <a:t>Soalan panduan: </a:t>
            </a:r>
            <a:endParaRPr lang="en-US" altLang="en-GB" sz="2400" dirty="0"/>
          </a:p>
          <a:p>
            <a:pPr marL="0" indent="0">
              <a:buNone/>
            </a:pPr>
            <a:r>
              <a:rPr lang="en-US" altLang="en-GB" sz="2400" dirty="0"/>
              <a:t>- Apakah isu yang anda pilih dan mengapa</a:t>
            </a:r>
            <a:endParaRPr lang="en-US" altLang="en-GB" sz="2400" dirty="0"/>
          </a:p>
          <a:p>
            <a:pPr marL="0" indent="0">
              <a:buNone/>
            </a:pPr>
            <a:r>
              <a:rPr lang="en-US" altLang="en-GB" sz="2400" dirty="0"/>
              <a:t>- Apakah nilai jati diri yang tercabar atau perlu dikuatkan dalam isu ini?</a:t>
            </a:r>
            <a:endParaRPr lang="en-US" altLang="en-GB" sz="2400" dirty="0"/>
          </a:p>
          <a:p>
            <a:pPr marL="0" indent="0">
              <a:buNone/>
            </a:pPr>
            <a:r>
              <a:rPr lang="en-US" altLang="en-GB" sz="2400" dirty="0"/>
              <a:t>-Apakah peranan individu muda seperti anda dalam isu ini?</a:t>
            </a:r>
            <a:endParaRPr lang="en-GB" sz="24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800" dirty="0"/>
          </a:p>
          <a:p>
            <a:endParaRPr lang="en-GB" sz="1800" dirty="0"/>
          </a:p>
        </p:txBody>
      </p:sp>
      <p:sp>
        <p:nvSpPr>
          <p:cNvPr id="4118" name="Oval 41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0" name="Freeform: Shape 41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098" name="Picture 2" descr="Cara jadi Doktor di Malaysia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38" r="13005" b="1"/>
          <a:stretch>
            <a:fillRect/>
          </a:stretch>
        </p:blipFill>
        <p:spPr bwMode="auto">
          <a:xfrm>
            <a:off x="7751975" y="1075239"/>
            <a:ext cx="4128603" cy="4128603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22" name="Freeform: Shape 41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124" name="Straight Connector 4123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6" name="Freeform: Shape 41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28" name="Freeform: Shape 41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>
                <a:latin typeface="Amasis MT Pro Black" panose="02040A04050005020304" pitchFamily="18" charset="0"/>
              </a:rPr>
              <a:t>PR</a:t>
            </a:r>
            <a:r>
              <a:rPr lang="en-US" altLang="en-GB" dirty="0">
                <a:latin typeface="Amasis MT Pro Black" panose="02040A04050005020304" pitchFamily="18" charset="0"/>
              </a:rPr>
              <a:t>OJEK MISI: TINDAKAN KECIL, JIWA BESAR</a:t>
            </a:r>
            <a:endParaRPr lang="en-US" altLang="en-GB" dirty="0">
              <a:latin typeface="Amasis MT Pro Black" panose="02040A040500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r>
              <a:rPr lang="en-US" altLang="en-GB" dirty="0"/>
              <a:t>Pelajar  perlu merancang dan melaksanakan satu projek peribadi  yang membaw impak positif  kepada diri, orang lain dan komuniti sekeliling.</a:t>
            </a:r>
            <a:endParaRPr lang="en-US" altLang="en-GB" dirty="0"/>
          </a:p>
          <a:p>
            <a:r>
              <a:rPr lang="en-US" altLang="en-GB" dirty="0"/>
              <a:t>Projek mestilah bersifat praktikal, berasaskan nilai murni </a:t>
            </a:r>
            <a:endParaRPr lang="en-US" altLang="en-GB" dirty="0"/>
          </a:p>
          <a:p>
            <a:r>
              <a:rPr lang="en-US" altLang="en-GB" dirty="0"/>
              <a:t>Dokumentasi dan bentangkan projek anda di dalam kelas</a:t>
            </a:r>
            <a:endParaRPr lang="en-US" altLang="en-GB" dirty="0"/>
          </a:p>
          <a:p>
            <a:r>
              <a:rPr lang="en-US" altLang="en-GB" dirty="0"/>
              <a:t>Tema:</a:t>
            </a:r>
            <a:endParaRPr lang="en-US" altLang="en-GB" dirty="0"/>
          </a:p>
          <a:p>
            <a:pPr marL="0" indent="0">
              <a:buNone/>
            </a:pPr>
            <a:r>
              <a:rPr lang="en-US" altLang="en-GB" dirty="0"/>
              <a:t>- Tanggungjawab sosial</a:t>
            </a:r>
            <a:endParaRPr lang="en-US" altLang="en-GB" dirty="0"/>
          </a:p>
          <a:p>
            <a:pPr marL="0" indent="0">
              <a:buNone/>
            </a:pPr>
            <a:r>
              <a:rPr lang="en-US" altLang="en-GB" dirty="0"/>
              <a:t>-Disiplin diri</a:t>
            </a:r>
            <a:endParaRPr lang="en-US" altLang="en-GB" dirty="0"/>
          </a:p>
          <a:p>
            <a:pPr marL="0" indent="0">
              <a:buNone/>
            </a:pPr>
            <a:r>
              <a:rPr lang="en-US" altLang="en-GB" dirty="0"/>
              <a:t>-Kebersihan dan alam sekitar</a:t>
            </a:r>
            <a:endParaRPr lang="en-US" altLang="en-GB" dirty="0"/>
          </a:p>
          <a:p>
            <a:pPr marL="0" indent="0">
              <a:buNone/>
            </a:pPr>
            <a:r>
              <a:rPr lang="en-US" altLang="en-GB" dirty="0"/>
              <a:t>-Nilai kekeluargaan</a:t>
            </a:r>
            <a:endParaRPr lang="en-US" altLang="en-GB" dirty="0"/>
          </a:p>
          <a:p>
            <a:pPr marL="0" indent="0">
              <a:buNone/>
            </a:pPr>
            <a:r>
              <a:rPr lang="en-US" altLang="en-GB" dirty="0"/>
              <a:t>-Kesedaran komuniti</a:t>
            </a:r>
            <a:endParaRPr lang="en-US" altLang="en-GB" dirty="0"/>
          </a:p>
          <a:p>
            <a:pPr marL="0" indent="0">
              <a:buNone/>
            </a:pPr>
            <a:r>
              <a:rPr lang="en-US" altLang="en-GB" dirty="0"/>
              <a:t>-Empati</a:t>
            </a:r>
            <a:endParaRPr lang="en-US" altLang="en-GB" dirty="0"/>
          </a:p>
          <a:p>
            <a:pPr marL="0" indent="0">
              <a:buNone/>
            </a:pPr>
            <a:r>
              <a:rPr lang="en-US" altLang="en-GB" dirty="0"/>
              <a:t>-Lain-lain yang berkaitan</a:t>
            </a:r>
            <a:endParaRPr lang="en-US" altLang="en-GB" dirty="0"/>
          </a:p>
          <a:p>
            <a:pPr marL="0" indent="0">
              <a:buNone/>
            </a:pPr>
            <a:endParaRPr lang="en-US" altLang="en-GB" dirty="0"/>
          </a:p>
          <a:p>
            <a:pPr marL="0" indent="0">
              <a:buNone/>
            </a:pPr>
            <a:endParaRPr lang="en-US" alt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GB" sz="4200" b="1"/>
              <a:t>SEMINAR PEMBANGUNAN JATI DIRI PELAJAR (25%)</a:t>
            </a:r>
            <a:endParaRPr lang="en-MY" sz="4200" b="1"/>
          </a:p>
        </p:txBody>
      </p:sp>
      <p:pic>
        <p:nvPicPr>
          <p:cNvPr id="5" name="Picture 4" descr="Close-up of a martial arts belt"/>
          <p:cNvPicPr>
            <a:picLocks noChangeAspect="1"/>
          </p:cNvPicPr>
          <p:nvPr/>
        </p:nvPicPr>
        <p:blipFill>
          <a:blip r:embed="rId1"/>
          <a:srcRect l="26026" r="28643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GB" sz="2200"/>
              <a:t>Pelajar perlu mengadakan satu seminar yang mempunyai kaitan dengan aspek Pembangunan jati diri pelajar</a:t>
            </a:r>
            <a:endParaRPr lang="en-GB" sz="2200"/>
          </a:p>
          <a:p>
            <a:r>
              <a:rPr lang="en-GB" sz="2200"/>
              <a:t>Seminar sehari secara fizikal</a:t>
            </a:r>
            <a:endParaRPr lang="en-GB" sz="2200"/>
          </a:p>
          <a:p>
            <a:r>
              <a:rPr lang="en-GB" sz="2200"/>
              <a:t>Pelajar perlu merancang pengisian tajuk  dan penceramah yang bersesuaian.</a:t>
            </a:r>
            <a:endParaRPr lang="en-MY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3019</Words>
  <Application>WPS Presentation</Application>
  <PresentationFormat>Widescreen</PresentationFormat>
  <Paragraphs>142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Amasis MT Pro Black</vt:lpstr>
      <vt:lpstr>Segoe Print</vt:lpstr>
      <vt:lpstr>Calibri</vt:lpstr>
      <vt:lpstr>Microsoft YaHei</vt:lpstr>
      <vt:lpstr>Arial Unicode MS</vt:lpstr>
      <vt:lpstr>Calibri Light</vt:lpstr>
      <vt:lpstr>Office Theme</vt:lpstr>
      <vt:lpstr>TAKLIMAT TUGASAN SUBJEK PEMBANGUNAN JATI DIRI</vt:lpstr>
      <vt:lpstr>MAKLUMAT PENSYARAH</vt:lpstr>
      <vt:lpstr>PENTAKSIRAN BERTERUSAN</vt:lpstr>
      <vt:lpstr>TUGASAN SOSIAL  EKSPERIMEN  ( 25%)</vt:lpstr>
      <vt:lpstr>FORMAT PROPOSAL</vt:lpstr>
      <vt:lpstr>FORMAT LAPORAN SOSIAL EKSPERIMEN</vt:lpstr>
      <vt:lpstr>VIDEO KTRAMPILAN  DIRI ( 25%)</vt:lpstr>
      <vt:lpstr>PROGRAM MENCUNGKIL BAKAT ASPI  (25%)</vt:lpstr>
      <vt:lpstr>SEMINAR PEMBANGUNAN JATI DIRI PELAJAR (25%)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TAKLIMAT TUGASAN SUBJEK PEMBANGUNAN JATI DIRI</dc:title>
  <dc:creator>TENGKU ELMI AZLINA DR ELMI</dc:creator>
  <cp:lastModifiedBy>Tengku Elmi Azlina Tengku Muda</cp:lastModifiedBy>
  <cp:revision>13</cp:revision>
  <dcterms:created xsi:type="dcterms:W3CDTF">2023-07-31T05:56:00Z</dcterms:created>
  <dcterms:modified xsi:type="dcterms:W3CDTF">2025-07-21T03:29:16Z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BC419E26CCDA496CB21053A387B57467_13</vt:lpwstr>
  </property>
  <property fmtid="{D5CDD505-2E9C-101B-9397-08002B2CF9AE}" pid="3" name="KSOProductBuildVer">
    <vt:lpwstr>1033-12.2.0.21931</vt:lpwstr>
  </property>
</Properties>
</file>