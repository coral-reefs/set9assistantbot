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6"/>
  </p:notesMasterIdLst>
  <p:handoutMasterIdLst>
    <p:handoutMasterId r:id="rId37"/>
  </p:handoutMasterIdLst>
  <p:sldIdLst>
    <p:sldId id="257"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92" r:id="rId20"/>
    <p:sldId id="293" r:id="rId21"/>
    <p:sldId id="287" r:id="rId22"/>
    <p:sldId id="288" r:id="rId23"/>
    <p:sldId id="289" r:id="rId24"/>
    <p:sldId id="290" r:id="rId25"/>
    <p:sldId id="291" r:id="rId26"/>
    <p:sldId id="294" r:id="rId27"/>
    <p:sldId id="295" r:id="rId28"/>
    <p:sldId id="296" r:id="rId29"/>
    <p:sldId id="297" r:id="rId30"/>
    <p:sldId id="298" r:id="rId31"/>
    <p:sldId id="300" r:id="rId32"/>
    <p:sldId id="301" r:id="rId33"/>
    <p:sldId id="302" r:id="rId34"/>
    <p:sldId id="303" r:id="rId35"/>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Glascoe" initials="LG"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39" autoAdjust="0"/>
    <p:restoredTop sz="86351" autoAdjust="0"/>
  </p:normalViewPr>
  <p:slideViewPr>
    <p:cSldViewPr snapToGrid="0">
      <p:cViewPr varScale="1">
        <p:scale>
          <a:sx n="117" d="100"/>
          <a:sy n="117" d="100"/>
        </p:scale>
        <p:origin x="1192" y="1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65" d="100"/>
          <a:sy n="65" d="100"/>
        </p:scale>
        <p:origin x="2520" y="78"/>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A72A0E-95BB-48F7-AF1B-D51E2878E19B}"/>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a:t>Chapter 1</a:t>
            </a:r>
          </a:p>
        </p:txBody>
      </p:sp>
      <p:sp>
        <p:nvSpPr>
          <p:cNvPr id="4" name="Footer Placeholder 3">
            <a:extLst>
              <a:ext uri="{FF2B5EF4-FFF2-40B4-BE49-F238E27FC236}">
                <a16:creationId xmlns:a16="http://schemas.microsoft.com/office/drawing/2014/main" id="{0B8FF084-D64F-4ABA-98C0-BF702B1CEAFA}"/>
              </a:ext>
            </a:extLst>
          </p:cNvPr>
          <p:cNvSpPr>
            <a:spLocks noGrp="1"/>
          </p:cNvSpPr>
          <p:nvPr>
            <p:ph type="ftr" sz="quarter" idx="2"/>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7th </a:t>
            </a:r>
            <a:r>
              <a:rPr lang="en-US" altLang="en-US" dirty="0" err="1"/>
              <a:t>ed</a:t>
            </a:r>
            <a:endParaRPr lang="en-US" altLang="en-US" dirty="0"/>
          </a:p>
        </p:txBody>
      </p:sp>
      <p:sp>
        <p:nvSpPr>
          <p:cNvPr id="5" name="Slide Number Placeholder 4">
            <a:extLst>
              <a:ext uri="{FF2B5EF4-FFF2-40B4-BE49-F238E27FC236}">
                <a16:creationId xmlns:a16="http://schemas.microsoft.com/office/drawing/2014/main" id="{7678EEEA-24E7-481C-AFE0-E8B4A0DB424F}"/>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92FB8E8C-0D6F-41DF-A5E7-85834431E1CE}" type="slidenum">
              <a:rPr lang="en-US" altLang="en-US"/>
              <a:pPr/>
              <a:t>‹#›</a:t>
            </a:fld>
            <a:endParaRPr lang="en-US" altLang="en-US"/>
          </a:p>
        </p:txBody>
      </p:sp>
    </p:spTree>
    <p:extLst>
      <p:ext uri="{BB962C8B-B14F-4D97-AF65-F5344CB8AC3E}">
        <p14:creationId xmlns:p14="http://schemas.microsoft.com/office/powerpoint/2010/main" val="260728267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3102E6-095D-4A90-8D1F-478AAC9AAA9A}"/>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cs typeface="Arial" charset="0"/>
              </a:defRPr>
            </a:lvl1pPr>
          </a:lstStyle>
          <a:p>
            <a:pPr>
              <a:defRPr/>
            </a:pPr>
            <a:r>
              <a:rPr lang="en-US"/>
              <a:t>Chapter 1</a:t>
            </a:r>
          </a:p>
        </p:txBody>
      </p:sp>
      <p:sp>
        <p:nvSpPr>
          <p:cNvPr id="4" name="Slide Image Placeholder 3">
            <a:extLst>
              <a:ext uri="{FF2B5EF4-FFF2-40B4-BE49-F238E27FC236}">
                <a16:creationId xmlns:a16="http://schemas.microsoft.com/office/drawing/2014/main" id="{4E851504-9568-41E5-8749-91CCFA0A8B4A}"/>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a:extLst>
              <a:ext uri="{FF2B5EF4-FFF2-40B4-BE49-F238E27FC236}">
                <a16:creationId xmlns:a16="http://schemas.microsoft.com/office/drawing/2014/main" id="{5CDCA077-DF61-47A4-81F3-0C203C0A9829}"/>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3A92A38-6A99-4B4E-9655-A861EED2A81A}"/>
              </a:ext>
            </a:extLst>
          </p:cNvPr>
          <p:cNvSpPr>
            <a:spLocks noGrp="1"/>
          </p:cNvSpPr>
          <p:nvPr>
            <p:ph type="ftr" sz="quarter" idx="4"/>
          </p:nvPr>
        </p:nvSpPr>
        <p:spPr>
          <a:xfrm>
            <a:off x="0" y="8829675"/>
            <a:ext cx="3038475" cy="465138"/>
          </a:xfrm>
          <a:prstGeom prst="rect">
            <a:avLst/>
          </a:prstGeom>
        </p:spPr>
        <p:txBody>
          <a:bodyPr vert="horz" wrap="square" lIns="93177" tIns="46589" rIns="93177" bIns="46589" numCol="1" anchor="b" anchorCtr="0" compatLnSpc="1">
            <a:prstTxWarp prst="textNoShape">
              <a:avLst/>
            </a:prstTxWarp>
          </a:bodyPr>
          <a:lstStyle>
            <a:lvl1pPr>
              <a:defRPr sz="1200">
                <a:latin typeface="Arial" charset="0"/>
                <a:cs typeface="Arial" charset="0"/>
              </a:defRPr>
            </a:lvl1pPr>
          </a:lstStyle>
          <a:p>
            <a:pPr>
              <a:defRPr/>
            </a:pPr>
            <a:r>
              <a:rPr lang="en-US" altLang="en-US" dirty="0"/>
              <a:t>Larson/Farber 7th </a:t>
            </a:r>
            <a:r>
              <a:rPr lang="en-US" altLang="en-US" dirty="0" err="1"/>
              <a:t>ed</a:t>
            </a:r>
            <a:endParaRPr lang="en-US" altLang="en-US" dirty="0"/>
          </a:p>
        </p:txBody>
      </p:sp>
      <p:sp>
        <p:nvSpPr>
          <p:cNvPr id="7" name="Slide Number Placeholder 6">
            <a:extLst>
              <a:ext uri="{FF2B5EF4-FFF2-40B4-BE49-F238E27FC236}">
                <a16:creationId xmlns:a16="http://schemas.microsoft.com/office/drawing/2014/main" id="{7906537B-F884-47EE-884E-6A9274F188F3}"/>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1A5BD864-E641-43A5-B847-432F3B5DE1C7}" type="slidenum">
              <a:rPr lang="en-US" altLang="en-US"/>
              <a:pPr/>
              <a:t>‹#›</a:t>
            </a:fld>
            <a:endParaRPr lang="en-US" altLang="en-US"/>
          </a:p>
        </p:txBody>
      </p:sp>
    </p:spTree>
    <p:extLst>
      <p:ext uri="{BB962C8B-B14F-4D97-AF65-F5344CB8AC3E}">
        <p14:creationId xmlns:p14="http://schemas.microsoft.com/office/powerpoint/2010/main" val="3067672324"/>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ED3C48F-C7E4-4F1B-B747-19DF446CC1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515691BE-F24A-475C-9AFD-B941AFE86A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3D8C1F16-5665-4C91-9114-22FA5EF7FC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07C95BD-FDD8-4629-B0D8-7E643830E325}" type="slidenum">
              <a:rPr lang="en-US" altLang="en-US">
                <a:latin typeface="Arial" panose="020B0604020202020204" pitchFamily="34" charset="0"/>
              </a:rPr>
              <a:pPr eaLnBrk="1" hangingPunct="1">
                <a:spcBef>
                  <a:spcPct val="0"/>
                </a:spcBef>
              </a:pPr>
              <a:t>1</a:t>
            </a:fld>
            <a:endParaRPr lang="en-US" altLang="en-US">
              <a:latin typeface="Arial" panose="020B0604020202020204" pitchFamily="34" charset="0"/>
            </a:endParaRPr>
          </a:p>
        </p:txBody>
      </p:sp>
      <p:sp>
        <p:nvSpPr>
          <p:cNvPr id="25605" name="Footer Placeholder 4">
            <a:extLst>
              <a:ext uri="{FF2B5EF4-FFF2-40B4-BE49-F238E27FC236}">
                <a16:creationId xmlns:a16="http://schemas.microsoft.com/office/drawing/2014/main" id="{8CC2A149-A2C7-42D1-9CEA-10C1AF17E48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dirty="0">
                <a:latin typeface="Arial" panose="020B0604020202020204" pitchFamily="34" charset="0"/>
                <a:cs typeface="Arial" panose="020B0604020202020204" pitchFamily="34" charset="0"/>
              </a:rPr>
              <a:t>Larson/Farber 7th </a:t>
            </a:r>
            <a:r>
              <a:rPr lang="en-US" altLang="en-US" dirty="0" err="1">
                <a:latin typeface="Arial" panose="020B0604020202020204" pitchFamily="34" charset="0"/>
                <a:cs typeface="Arial" panose="020B0604020202020204" pitchFamily="34" charset="0"/>
              </a:rPr>
              <a:t>ed</a:t>
            </a:r>
            <a:endParaRPr lang="en-US" altLang="en-US" dirty="0">
              <a:latin typeface="Arial" panose="020B0604020202020204" pitchFamily="34" charset="0"/>
              <a:cs typeface="Arial" panose="020B0604020202020204" pitchFamily="34" charset="0"/>
            </a:endParaRPr>
          </a:p>
        </p:txBody>
      </p:sp>
      <p:sp>
        <p:nvSpPr>
          <p:cNvPr id="25606" name="Header Placeholder 5">
            <a:extLst>
              <a:ext uri="{FF2B5EF4-FFF2-40B4-BE49-F238E27FC236}">
                <a16:creationId xmlns:a16="http://schemas.microsoft.com/office/drawing/2014/main" id="{061CE2F9-8BD2-44B0-9BF9-E9B8D924ECB3}"/>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a:latin typeface="Arial" panose="020B0604020202020204" pitchFamily="34" charset="0"/>
                <a:cs typeface="Arial" panose="020B0604020202020204" pitchFamily="34" charset="0"/>
              </a:rPr>
              <a:t>Chapter 1</a:t>
            </a:r>
          </a:p>
        </p:txBody>
      </p:sp>
    </p:spTree>
    <p:extLst>
      <p:ext uri="{BB962C8B-B14F-4D97-AF65-F5344CB8AC3E}">
        <p14:creationId xmlns:p14="http://schemas.microsoft.com/office/powerpoint/2010/main" val="2383851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2</a:t>
            </a:fld>
            <a:endParaRPr lang="en-US" altLang="en-US"/>
          </a:p>
        </p:txBody>
      </p:sp>
    </p:spTree>
    <p:extLst>
      <p:ext uri="{BB962C8B-B14F-4D97-AF65-F5344CB8AC3E}">
        <p14:creationId xmlns:p14="http://schemas.microsoft.com/office/powerpoint/2010/main" val="2768465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3</a:t>
            </a:fld>
            <a:endParaRPr lang="en-US" altLang="en-US"/>
          </a:p>
        </p:txBody>
      </p:sp>
    </p:spTree>
    <p:extLst>
      <p:ext uri="{BB962C8B-B14F-4D97-AF65-F5344CB8AC3E}">
        <p14:creationId xmlns:p14="http://schemas.microsoft.com/office/powerpoint/2010/main" val="3595084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4</a:t>
            </a:fld>
            <a:endParaRPr lang="en-US" altLang="en-US"/>
          </a:p>
        </p:txBody>
      </p:sp>
    </p:spTree>
    <p:extLst>
      <p:ext uri="{BB962C8B-B14F-4D97-AF65-F5344CB8AC3E}">
        <p14:creationId xmlns:p14="http://schemas.microsoft.com/office/powerpoint/2010/main" val="796121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9B70281F-BD85-42B9-853B-89D9D7FC19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F32C4E4A-67C3-47BE-9BB6-5A19D2DB7F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8" name="Header Placeholder 3">
            <a:extLst>
              <a:ext uri="{FF2B5EF4-FFF2-40B4-BE49-F238E27FC236}">
                <a16:creationId xmlns:a16="http://schemas.microsoft.com/office/drawing/2014/main" id="{3CD3F338-C684-4754-9350-41AF50A5B94B}"/>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a:latin typeface="Arial" panose="020B0604020202020204" pitchFamily="34" charset="0"/>
                <a:cs typeface="Arial" panose="020B0604020202020204" pitchFamily="34" charset="0"/>
              </a:rPr>
              <a:t>Chapter 1</a:t>
            </a:r>
          </a:p>
        </p:txBody>
      </p:sp>
      <p:sp>
        <p:nvSpPr>
          <p:cNvPr id="21509" name="Footer Placeholder 4">
            <a:extLst>
              <a:ext uri="{FF2B5EF4-FFF2-40B4-BE49-F238E27FC236}">
                <a16:creationId xmlns:a16="http://schemas.microsoft.com/office/drawing/2014/main" id="{17FD2FAD-1068-4707-B5D1-DC3D33C74C8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dirty="0">
                <a:latin typeface="Arial" panose="020B0604020202020204" pitchFamily="34" charset="0"/>
                <a:cs typeface="Arial" panose="020B0604020202020204" pitchFamily="34" charset="0"/>
              </a:rPr>
              <a:t>Larson/Farber 7th </a:t>
            </a:r>
            <a:r>
              <a:rPr lang="en-US" altLang="en-US" dirty="0" err="1">
                <a:latin typeface="Arial" panose="020B0604020202020204" pitchFamily="34" charset="0"/>
                <a:cs typeface="Arial" panose="020B0604020202020204" pitchFamily="34" charset="0"/>
              </a:rPr>
              <a:t>ed</a:t>
            </a:r>
            <a:endParaRPr lang="en-US" altLang="en-US" dirty="0">
              <a:latin typeface="Arial" panose="020B0604020202020204" pitchFamily="34" charset="0"/>
              <a:cs typeface="Arial" panose="020B0604020202020204" pitchFamily="34" charset="0"/>
            </a:endParaRPr>
          </a:p>
        </p:txBody>
      </p:sp>
      <p:sp>
        <p:nvSpPr>
          <p:cNvPr id="21510" name="Slide Number Placeholder 5">
            <a:extLst>
              <a:ext uri="{FF2B5EF4-FFF2-40B4-BE49-F238E27FC236}">
                <a16:creationId xmlns:a16="http://schemas.microsoft.com/office/drawing/2014/main" id="{97438104-8760-4265-BB52-609489A179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C61D5D4E-6C5A-4E1C-8344-D6DCABC37608}" type="slidenum">
              <a:rPr lang="en-US" altLang="en-US">
                <a:latin typeface="Arial" panose="020B0604020202020204" pitchFamily="34" charset="0"/>
              </a:rPr>
              <a:pPr eaLnBrk="1" hangingPunct="1">
                <a:spcBef>
                  <a:spcPct val="0"/>
                </a:spcBef>
              </a:pPr>
              <a:t>5</a:t>
            </a:fld>
            <a:endParaRPr lang="en-US" altLang="en-US">
              <a:latin typeface="Arial" panose="020B0604020202020204" pitchFamily="34" charset="0"/>
            </a:endParaRPr>
          </a:p>
        </p:txBody>
      </p:sp>
    </p:spTree>
    <p:extLst>
      <p:ext uri="{BB962C8B-B14F-4D97-AF65-F5344CB8AC3E}">
        <p14:creationId xmlns:p14="http://schemas.microsoft.com/office/powerpoint/2010/main" val="19475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6</a:t>
            </a:fld>
            <a:endParaRPr lang="en-US" altLang="en-US"/>
          </a:p>
        </p:txBody>
      </p:sp>
    </p:spTree>
    <p:extLst>
      <p:ext uri="{BB962C8B-B14F-4D97-AF65-F5344CB8AC3E}">
        <p14:creationId xmlns:p14="http://schemas.microsoft.com/office/powerpoint/2010/main" val="3285202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7</a:t>
            </a:fld>
            <a:endParaRPr lang="en-US" altLang="en-US"/>
          </a:p>
        </p:txBody>
      </p:sp>
    </p:spTree>
    <p:extLst>
      <p:ext uri="{BB962C8B-B14F-4D97-AF65-F5344CB8AC3E}">
        <p14:creationId xmlns:p14="http://schemas.microsoft.com/office/powerpoint/2010/main" val="58065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8</a:t>
            </a:fld>
            <a:endParaRPr lang="en-US" altLang="en-US"/>
          </a:p>
        </p:txBody>
      </p:sp>
    </p:spTree>
    <p:extLst>
      <p:ext uri="{BB962C8B-B14F-4D97-AF65-F5344CB8AC3E}">
        <p14:creationId xmlns:p14="http://schemas.microsoft.com/office/powerpoint/2010/main" val="141979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9</a:t>
            </a:fld>
            <a:endParaRPr lang="en-US" altLang="en-US"/>
          </a:p>
        </p:txBody>
      </p:sp>
    </p:spTree>
    <p:extLst>
      <p:ext uri="{BB962C8B-B14F-4D97-AF65-F5344CB8AC3E}">
        <p14:creationId xmlns:p14="http://schemas.microsoft.com/office/powerpoint/2010/main" val="2099778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10</a:t>
            </a:fld>
            <a:endParaRPr lang="en-US" altLang="en-US"/>
          </a:p>
        </p:txBody>
      </p:sp>
    </p:spTree>
    <p:extLst>
      <p:ext uri="{BB962C8B-B14F-4D97-AF65-F5344CB8AC3E}">
        <p14:creationId xmlns:p14="http://schemas.microsoft.com/office/powerpoint/2010/main" val="4150078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11</a:t>
            </a:fld>
            <a:endParaRPr lang="en-US" altLang="en-US"/>
          </a:p>
        </p:txBody>
      </p:sp>
    </p:spTree>
    <p:extLst>
      <p:ext uri="{BB962C8B-B14F-4D97-AF65-F5344CB8AC3E}">
        <p14:creationId xmlns:p14="http://schemas.microsoft.com/office/powerpoint/2010/main" val="3140319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12</a:t>
            </a:fld>
            <a:endParaRPr lang="en-US" altLang="en-US"/>
          </a:p>
        </p:txBody>
      </p:sp>
    </p:spTree>
    <p:extLst>
      <p:ext uri="{BB962C8B-B14F-4D97-AF65-F5344CB8AC3E}">
        <p14:creationId xmlns:p14="http://schemas.microsoft.com/office/powerpoint/2010/main" val="449529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13</a:t>
            </a:fld>
            <a:endParaRPr lang="en-US" altLang="en-US"/>
          </a:p>
        </p:txBody>
      </p:sp>
    </p:spTree>
    <p:extLst>
      <p:ext uri="{BB962C8B-B14F-4D97-AF65-F5344CB8AC3E}">
        <p14:creationId xmlns:p14="http://schemas.microsoft.com/office/powerpoint/2010/main" val="1068528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14</a:t>
            </a:fld>
            <a:endParaRPr lang="en-US" altLang="en-US"/>
          </a:p>
        </p:txBody>
      </p:sp>
    </p:spTree>
    <p:extLst>
      <p:ext uri="{BB962C8B-B14F-4D97-AF65-F5344CB8AC3E}">
        <p14:creationId xmlns:p14="http://schemas.microsoft.com/office/powerpoint/2010/main" val="200770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15</a:t>
            </a:fld>
            <a:endParaRPr lang="en-US" altLang="en-US"/>
          </a:p>
        </p:txBody>
      </p:sp>
    </p:spTree>
    <p:extLst>
      <p:ext uri="{BB962C8B-B14F-4D97-AF65-F5344CB8AC3E}">
        <p14:creationId xmlns:p14="http://schemas.microsoft.com/office/powerpoint/2010/main" val="2313117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18</a:t>
            </a:fld>
            <a:endParaRPr lang="en-US" altLang="en-US"/>
          </a:p>
        </p:txBody>
      </p:sp>
    </p:spTree>
    <p:extLst>
      <p:ext uri="{BB962C8B-B14F-4D97-AF65-F5344CB8AC3E}">
        <p14:creationId xmlns:p14="http://schemas.microsoft.com/office/powerpoint/2010/main" val="3059481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19</a:t>
            </a:fld>
            <a:endParaRPr lang="en-US" altLang="en-US"/>
          </a:p>
        </p:txBody>
      </p:sp>
    </p:spTree>
    <p:extLst>
      <p:ext uri="{BB962C8B-B14F-4D97-AF65-F5344CB8AC3E}">
        <p14:creationId xmlns:p14="http://schemas.microsoft.com/office/powerpoint/2010/main" val="3118205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t>Chapter 1</a:t>
            </a:r>
          </a:p>
        </p:txBody>
      </p:sp>
      <p:sp>
        <p:nvSpPr>
          <p:cNvPr id="5" name="Footer Placeholder 4"/>
          <p:cNvSpPr>
            <a:spLocks noGrp="1"/>
          </p:cNvSpPr>
          <p:nvPr>
            <p:ph type="ftr" sz="quarter" idx="11"/>
          </p:nvPr>
        </p:nvSpPr>
        <p:spPr/>
        <p:txBody>
          <a:bodyPr/>
          <a:lstStyle/>
          <a:p>
            <a:pPr>
              <a:defRPr/>
            </a:pPr>
            <a:r>
              <a:rPr lang="en-US" altLang="en-US"/>
              <a:t>Larson/Farber 7th ed</a:t>
            </a:r>
            <a:endParaRPr lang="en-US" altLang="en-US" dirty="0"/>
          </a:p>
        </p:txBody>
      </p:sp>
      <p:sp>
        <p:nvSpPr>
          <p:cNvPr id="6" name="Slide Number Placeholder 5"/>
          <p:cNvSpPr>
            <a:spLocks noGrp="1"/>
          </p:cNvSpPr>
          <p:nvPr>
            <p:ph type="sldNum" sz="quarter" idx="12"/>
          </p:nvPr>
        </p:nvSpPr>
        <p:spPr/>
        <p:txBody>
          <a:bodyPr/>
          <a:lstStyle/>
          <a:p>
            <a:fld id="{1A5BD864-E641-43A5-B847-432F3B5DE1C7}" type="slidenum">
              <a:rPr lang="en-US" altLang="en-US" smtClean="0"/>
              <a:pPr/>
              <a:t>20</a:t>
            </a:fld>
            <a:endParaRPr lang="en-US" altLang="en-US"/>
          </a:p>
        </p:txBody>
      </p:sp>
    </p:spTree>
    <p:extLst>
      <p:ext uri="{BB962C8B-B14F-4D97-AF65-F5344CB8AC3E}">
        <p14:creationId xmlns:p14="http://schemas.microsoft.com/office/powerpoint/2010/main" val="3782073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1">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BA768897-AE1F-4BBA-9735-E85BACB571E0}"/>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5" name="Slide Number Placeholder 5">
            <a:extLst>
              <a:ext uri="{FF2B5EF4-FFF2-40B4-BE49-F238E27FC236}">
                <a16:creationId xmlns:a16="http://schemas.microsoft.com/office/drawing/2014/main" id="{BF425563-4D73-4E13-9485-63369118B5DB}"/>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5088860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D34E719C-6E1A-4409-AAC3-F0FFEF7F8DB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5972489"/>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D31C36-8DE7-47E3-8210-E92EC5D14626}"/>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258323993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4A0BEBAC-8316-4A0B-B812-B1F4EAE4D6F0}"/>
              </a:ext>
            </a:extLst>
          </p:cNvPr>
          <p:cNvSpPr>
            <a:spLocks noGrp="1"/>
          </p:cNvSpPr>
          <p:nvPr>
            <p:ph type="sldNum" sz="quarter" idx="11"/>
          </p:nvPr>
        </p:nvSpPr>
        <p:spPr>
          <a:xfrm>
            <a:off x="6858000" y="6416675"/>
            <a:ext cx="2133600" cy="365125"/>
          </a:xfrm>
          <a:prstGeom prst="rect">
            <a:avLst/>
          </a:prstGeom>
        </p:spPr>
        <p:txBody>
          <a:bodyPr vert="horz" wrap="square" lIns="91440" tIns="45720" rIns="91440" bIns="45720" numCol="1" anchor="t" anchorCtr="0" compatLnSpc="1">
            <a:prstTxWarp prst="textNoShape">
              <a:avLst/>
            </a:prstTxWarp>
          </a:bodyPr>
          <a:lstStyle>
            <a:lvl1pPr>
              <a:defRPr>
                <a:solidFill>
                  <a:schemeClr val="tx2"/>
                </a:solidFill>
              </a:defRPr>
            </a:lvl1pPr>
          </a:lstStyle>
          <a:p>
            <a:fld id="{A7332DD2-ADD2-43F1-9DBD-FF46C02CC16F}" type="slidenum">
              <a:rPr lang="en-US" altLang="en-US"/>
              <a:pPr/>
              <a:t>‹#›</a:t>
            </a:fld>
            <a:endParaRPr lang="en-US" altLang="en-US"/>
          </a:p>
        </p:txBody>
      </p:sp>
    </p:spTree>
    <p:extLst>
      <p:ext uri="{BB962C8B-B14F-4D97-AF65-F5344CB8AC3E}">
        <p14:creationId xmlns:p14="http://schemas.microsoft.com/office/powerpoint/2010/main" val="35863688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3" name="Footer Placeholder 4">
            <a:extLst>
              <a:ext uri="{FF2B5EF4-FFF2-40B4-BE49-F238E27FC236}">
                <a16:creationId xmlns:a16="http://schemas.microsoft.com/office/drawing/2014/main" id="{EE0BE9A5-7856-40D2-A899-07BF9508CC44}"/>
              </a:ext>
            </a:extLst>
          </p:cNvPr>
          <p:cNvSpPr>
            <a:spLocks noGrp="1"/>
          </p:cNvSpPr>
          <p:nvPr>
            <p:ph type="ftr" sz="quarter" idx="10"/>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4" name="Slide Number Placeholder 5">
            <a:extLst>
              <a:ext uri="{FF2B5EF4-FFF2-40B4-BE49-F238E27FC236}">
                <a16:creationId xmlns:a16="http://schemas.microsoft.com/office/drawing/2014/main" id="{0DAEE260-4D40-41E5-89C4-AE323EC85D5C}"/>
              </a:ext>
            </a:extLst>
          </p:cNvPr>
          <p:cNvSpPr>
            <a:spLocks noGrp="1"/>
          </p:cNvSpPr>
          <p:nvPr>
            <p:ph type="sldNum" sz="quarter" idx="11"/>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1627428258"/>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609600" y="457200"/>
            <a:ext cx="8077200" cy="10668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4">
            <a:extLst>
              <a:ext uri="{FF2B5EF4-FFF2-40B4-BE49-F238E27FC236}">
                <a16:creationId xmlns:a16="http://schemas.microsoft.com/office/drawing/2014/main" id="{041D11B2-230C-48EC-82F1-6C9B16E9EC55}"/>
              </a:ext>
            </a:extLst>
          </p:cNvPr>
          <p:cNvSpPr>
            <a:spLocks noGrp="1"/>
          </p:cNvSpPr>
          <p:nvPr>
            <p:ph type="ftr" sz="quarter" idx="13"/>
          </p:nvPr>
        </p:nvSpPr>
        <p:spPr>
          <a:xfrm>
            <a:off x="228600" y="6416675"/>
            <a:ext cx="2895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
        <p:nvSpPr>
          <p:cNvPr id="4" name="Slide Number Placeholder 5">
            <a:extLst>
              <a:ext uri="{FF2B5EF4-FFF2-40B4-BE49-F238E27FC236}">
                <a16:creationId xmlns:a16="http://schemas.microsoft.com/office/drawing/2014/main" id="{208A409F-8EBE-4C84-A476-F20B635B0BF9}"/>
              </a:ext>
            </a:extLst>
          </p:cNvPr>
          <p:cNvSpPr>
            <a:spLocks noGrp="1"/>
          </p:cNvSpPr>
          <p:nvPr>
            <p:ph type="sldNum" sz="quarter" idx="14"/>
          </p:nvPr>
        </p:nvSpPr>
        <p:spPr>
          <a:xfrm>
            <a:off x="6858000" y="6416675"/>
            <a:ext cx="2133600" cy="365125"/>
          </a:xfrm>
          <a:prstGeom prst="rect">
            <a:avLst/>
          </a:prstGeom>
        </p:spPr>
        <p:txBody>
          <a:bodyPr/>
          <a:lstStyle>
            <a:lvl1pPr>
              <a:defRPr>
                <a:solidFill>
                  <a:schemeClr val="tx2"/>
                </a:solidFill>
                <a:latin typeface="Arial" charset="0"/>
                <a:cs typeface="Arial" charset="0"/>
              </a:defRPr>
            </a:lvl1pPr>
          </a:lstStyle>
          <a:p>
            <a:pPr>
              <a:defRPr/>
            </a:pPr>
            <a:endParaRPr lang="en-US"/>
          </a:p>
        </p:txBody>
      </p:sp>
    </p:spTree>
    <p:extLst>
      <p:ext uri="{BB962C8B-B14F-4D97-AF65-F5344CB8AC3E}">
        <p14:creationId xmlns:p14="http://schemas.microsoft.com/office/powerpoint/2010/main" val="75126015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03E3298-7589-404A-A3CD-B7D3632FB08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a:extLst>
              <a:ext uri="{FF2B5EF4-FFF2-40B4-BE49-F238E27FC236}">
                <a16:creationId xmlns:a16="http://schemas.microsoft.com/office/drawing/2014/main" id="{C607DD56-6AC8-4621-9BE9-58551A3302C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Rectangle 2">
            <a:extLst>
              <a:ext uri="{FF2B5EF4-FFF2-40B4-BE49-F238E27FC236}">
                <a16:creationId xmlns:a16="http://schemas.microsoft.com/office/drawing/2014/main" id="{19AF5378-F02F-4509-B60B-CC17F9AFC9B6}"/>
              </a:ext>
            </a:extLst>
          </p:cNvPr>
          <p:cNvSpPr>
            <a:spLocks noChangeArrowheads="1"/>
          </p:cNvSpPr>
          <p:nvPr userDrawn="1"/>
        </p:nvSpPr>
        <p:spPr bwMode="gray">
          <a:xfrm>
            <a:off x="0" y="6407150"/>
            <a:ext cx="9145588" cy="457200"/>
          </a:xfrm>
          <a:prstGeom prst="rect">
            <a:avLst/>
          </a:prstGeom>
          <a:solidFill>
            <a:srgbClr val="36439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z="2400" dirty="0">
              <a:solidFill>
                <a:srgbClr val="000000"/>
              </a:solidFill>
            </a:endParaRPr>
          </a:p>
        </p:txBody>
      </p:sp>
      <p:sp>
        <p:nvSpPr>
          <p:cNvPr id="12" name="Rectangle 10">
            <a:extLst>
              <a:ext uri="{FF2B5EF4-FFF2-40B4-BE49-F238E27FC236}">
                <a16:creationId xmlns:a16="http://schemas.microsoft.com/office/drawing/2014/main" id="{8D11D8C6-6BA5-4960-92F1-9DE927AC48A4}"/>
              </a:ext>
            </a:extLst>
          </p:cNvPr>
          <p:cNvSpPr>
            <a:spLocks noChangeArrowheads="1"/>
          </p:cNvSpPr>
          <p:nvPr userDrawn="1"/>
        </p:nvSpPr>
        <p:spPr bwMode="auto">
          <a:xfrm>
            <a:off x="8145463" y="6333066"/>
            <a:ext cx="842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fld id="{8283E607-DE1E-42B1-AE02-332DF676BF65}" type="slidenum">
              <a:rPr lang="en-US" altLang="en-US" sz="1400" b="1">
                <a:solidFill>
                  <a:srgbClr val="FBF5EA"/>
                </a:solidFill>
              </a:rPr>
              <a:pPr algn="r"/>
              <a:t>‹#›</a:t>
            </a:fld>
            <a:endParaRPr lang="en-US" altLang="en-US" sz="1400" b="1" dirty="0">
              <a:solidFill>
                <a:srgbClr val="FBF5EA"/>
              </a:solidFill>
            </a:endParaRPr>
          </a:p>
        </p:txBody>
      </p:sp>
      <p:pic>
        <p:nvPicPr>
          <p:cNvPr id="9" name="Picture 19" descr="Pearson_Bound_White">
            <a:extLst>
              <a:ext uri="{FF2B5EF4-FFF2-40B4-BE49-F238E27FC236}">
                <a16:creationId xmlns:a16="http://schemas.microsoft.com/office/drawing/2014/main" id="{280D9147-1857-4AA0-B13A-799662920909}"/>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488950" y="6391275"/>
            <a:ext cx="1655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25">
            <a:extLst>
              <a:ext uri="{FF2B5EF4-FFF2-40B4-BE49-F238E27FC236}">
                <a16:creationId xmlns:a16="http://schemas.microsoft.com/office/drawing/2014/main" id="{3DB57D7B-DFB7-46B6-A92A-369F6BC2D0B0}"/>
              </a:ext>
            </a:extLst>
          </p:cNvPr>
          <p:cNvSpPr txBox="1">
            <a:spLocks/>
          </p:cNvSpPr>
          <p:nvPr userDrawn="1"/>
        </p:nvSpPr>
        <p:spPr bwMode="auto">
          <a:xfrm>
            <a:off x="1966911" y="6475412"/>
            <a:ext cx="5872164"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defRPr sz="1000">
                <a:solidFill>
                  <a:schemeClr val="tx1"/>
                </a:solidFill>
                <a:latin typeface="Verdana" panose="020B0604030504040204" pitchFamily="34" charset="0"/>
                <a:cs typeface="Arial" panose="020B0604020202020204" pitchFamily="34" charset="0"/>
              </a:defRPr>
            </a:lvl1pPr>
            <a:lvl2pPr marL="742950" indent="-285750">
              <a:spcBef>
                <a:spcPct val="50000"/>
              </a:spcBef>
              <a:defRPr sz="1000">
                <a:solidFill>
                  <a:schemeClr val="tx1"/>
                </a:solidFill>
                <a:latin typeface="Verdana" panose="020B0604030504040204" pitchFamily="34" charset="0"/>
                <a:cs typeface="Arial" panose="020B0604020202020204" pitchFamily="34" charset="0"/>
              </a:defRPr>
            </a:lvl2pPr>
            <a:lvl3pPr marL="1143000" indent="-228600">
              <a:spcBef>
                <a:spcPct val="50000"/>
              </a:spcBef>
              <a:defRPr sz="1000">
                <a:solidFill>
                  <a:schemeClr val="tx1"/>
                </a:solidFill>
                <a:latin typeface="Verdana" panose="020B0604030504040204" pitchFamily="34" charset="0"/>
                <a:cs typeface="Arial" panose="020B0604020202020204" pitchFamily="34" charset="0"/>
              </a:defRPr>
            </a:lvl3pPr>
            <a:lvl4pPr marL="1600200" indent="-228600">
              <a:spcBef>
                <a:spcPct val="50000"/>
              </a:spcBef>
              <a:defRPr sz="1000">
                <a:solidFill>
                  <a:schemeClr val="tx1"/>
                </a:solidFill>
                <a:latin typeface="Verdana" panose="020B0604030504040204" pitchFamily="34" charset="0"/>
                <a:cs typeface="Arial" panose="020B0604020202020204" pitchFamily="34" charset="0"/>
              </a:defRPr>
            </a:lvl4pPr>
            <a:lvl5pPr marL="2057400" indent="-228600">
              <a:spcBef>
                <a:spcPct val="50000"/>
              </a:spcBef>
              <a:defRPr sz="10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Verdana" panose="020B0604030504040204" pitchFamily="34" charset="0"/>
                <a:cs typeface="Arial" panose="020B0604020202020204" pitchFamily="34" charset="0"/>
              </a:defRPr>
            </a:lvl9pPr>
          </a:lstStyle>
          <a:p>
            <a:pPr algn="ctr" eaLnBrk="1" hangingPunct="1">
              <a:defRPr/>
            </a:pPr>
            <a:r>
              <a:rPr lang="en-US" altLang="en-US" sz="1400" dirty="0">
                <a:solidFill>
                  <a:schemeClr val="bg2"/>
                </a:solidFill>
                <a:latin typeface="Arial" panose="020B0604020202020204" pitchFamily="34" charset="0"/>
              </a:rPr>
              <a:t>© 2024 Pearson Education Ltd. All Rights Reserved.</a:t>
            </a:r>
          </a:p>
        </p:txBody>
      </p:sp>
      <p:pic>
        <p:nvPicPr>
          <p:cNvPr id="3" name="Picture 2">
            <a:extLst>
              <a:ext uri="{FF2B5EF4-FFF2-40B4-BE49-F238E27FC236}">
                <a16:creationId xmlns:a16="http://schemas.microsoft.com/office/drawing/2014/main" id="{AFBF789B-AA02-4C2A-839B-CF5EBD90F1EC}"/>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5369" y="6461122"/>
            <a:ext cx="294393" cy="310094"/>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Lst>
  <p:transition>
    <p:wipe dir="r"/>
  </p:transition>
  <p:txStyles>
    <p:titleStyle>
      <a:lvl1pPr algn="ctr" rtl="0" eaLnBrk="0" fontAlgn="base" hangingPunct="0">
        <a:spcBef>
          <a:spcPct val="0"/>
        </a:spcBef>
        <a:spcAft>
          <a:spcPct val="0"/>
        </a:spcAft>
        <a:defRPr sz="4400" b="1" kern="1200">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Arial" charset="0"/>
        </a:defRPr>
      </a:lvl2pPr>
      <a:lvl3pPr algn="ctr" rtl="0" eaLnBrk="0" fontAlgn="base" hangingPunct="0">
        <a:spcBef>
          <a:spcPct val="0"/>
        </a:spcBef>
        <a:spcAft>
          <a:spcPct val="0"/>
        </a:spcAft>
        <a:defRPr sz="4400" b="1">
          <a:solidFill>
            <a:schemeClr val="tx2"/>
          </a:solidFill>
          <a:latin typeface="Arial" charset="0"/>
        </a:defRPr>
      </a:lvl3pPr>
      <a:lvl4pPr algn="ctr" rtl="0" eaLnBrk="0" fontAlgn="base" hangingPunct="0">
        <a:spcBef>
          <a:spcPct val="0"/>
        </a:spcBef>
        <a:spcAft>
          <a:spcPct val="0"/>
        </a:spcAft>
        <a:defRPr sz="4400" b="1">
          <a:solidFill>
            <a:schemeClr val="tx2"/>
          </a:solidFill>
          <a:latin typeface="Arial" charset="0"/>
        </a:defRPr>
      </a:lvl4pPr>
      <a:lvl5pPr algn="ctr" rtl="0" eaLnBrk="0" fontAlgn="base" hangingPunct="0">
        <a:spcBef>
          <a:spcPct val="0"/>
        </a:spcBef>
        <a:spcAft>
          <a:spcPct val="0"/>
        </a:spcAft>
        <a:defRPr sz="4400" b="1">
          <a:solidFill>
            <a:schemeClr val="tx2"/>
          </a:solidFill>
          <a:latin typeface="Arial" charset="0"/>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image" Target="../media/image9.w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12B1B-6B9C-42A1-82EF-224ED97D0E57}"/>
              </a:ext>
            </a:extLst>
          </p:cNvPr>
          <p:cNvSpPr>
            <a:spLocks noChangeArrowheads="1"/>
          </p:cNvSpPr>
          <p:nvPr/>
        </p:nvSpPr>
        <p:spPr bwMode="auto">
          <a:xfrm>
            <a:off x="228600" y="533400"/>
            <a:ext cx="41910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sz="4800">
                <a:latin typeface="Arial" panose="020B0604020202020204" pitchFamily="34" charset="0"/>
                <a:cs typeface="Arial" panose="020B0604020202020204" pitchFamily="34" charset="0"/>
              </a:rPr>
              <a:t>Chapter</a:t>
            </a:r>
          </a:p>
        </p:txBody>
      </p:sp>
      <p:sp>
        <p:nvSpPr>
          <p:cNvPr id="8195" name="Rectangle 3">
            <a:extLst>
              <a:ext uri="{FF2B5EF4-FFF2-40B4-BE49-F238E27FC236}">
                <a16:creationId xmlns:a16="http://schemas.microsoft.com/office/drawing/2014/main" id="{DE794FBC-1286-49A6-9729-EC9BCBD28AAA}"/>
              </a:ext>
            </a:extLst>
          </p:cNvPr>
          <p:cNvSpPr>
            <a:spLocks noChangeArrowheads="1"/>
          </p:cNvSpPr>
          <p:nvPr/>
        </p:nvSpPr>
        <p:spPr bwMode="auto">
          <a:xfrm>
            <a:off x="228600" y="1905000"/>
            <a:ext cx="4191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sz="3200">
                <a:latin typeface="Arial" panose="020B0604020202020204" pitchFamily="34" charset="0"/>
              </a:rPr>
              <a:t>Introduction to Statistics</a:t>
            </a:r>
          </a:p>
        </p:txBody>
      </p:sp>
      <p:pic>
        <p:nvPicPr>
          <p:cNvPr id="8196" name="Picture 4" descr="chapter_blue">
            <a:extLst>
              <a:ext uri="{FF2B5EF4-FFF2-40B4-BE49-F238E27FC236}">
                <a16:creationId xmlns:a16="http://schemas.microsoft.com/office/drawing/2014/main" id="{0CFF2BB2-76D0-43EF-9011-D65D33463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685800"/>
            <a:ext cx="10207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a:extLst>
              <a:ext uri="{FF2B5EF4-FFF2-40B4-BE49-F238E27FC236}">
                <a16:creationId xmlns:a16="http://schemas.microsoft.com/office/drawing/2014/main" id="{3FECF86A-24DC-45AB-A1BF-674378B82502}"/>
              </a:ext>
            </a:extLst>
          </p:cNvPr>
          <p:cNvSpPr txBox="1">
            <a:spLocks noChangeArrowheads="1"/>
          </p:cNvSpPr>
          <p:nvPr/>
        </p:nvSpPr>
        <p:spPr bwMode="auto">
          <a:xfrm>
            <a:off x="2865438" y="685800"/>
            <a:ext cx="6858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FontTx/>
              <a:buNone/>
            </a:pPr>
            <a:r>
              <a:rPr lang="en-US" altLang="en-US" sz="6600" dirty="0">
                <a:solidFill>
                  <a:schemeClr val="bg1"/>
                </a:solidFill>
                <a:latin typeface="Arial" panose="020B0604020202020204" pitchFamily="34" charset="0"/>
                <a:cs typeface="Arial" panose="020B0604020202020204" pitchFamily="34" charset="0"/>
              </a:rPr>
              <a:t>1</a:t>
            </a:r>
          </a:p>
        </p:txBody>
      </p:sp>
      <p:pic>
        <p:nvPicPr>
          <p:cNvPr id="7" name="Picture 6">
            <a:extLst>
              <a:ext uri="{FF2B5EF4-FFF2-40B4-BE49-F238E27FC236}">
                <a16:creationId xmlns:a16="http://schemas.microsoft.com/office/drawing/2014/main" id="{D1092464-D59C-4A35-91EF-CEF127D0A9BC}"/>
              </a:ext>
            </a:extLst>
          </p:cNvPr>
          <p:cNvPicPr>
            <a:picLocks noChangeAspect="1"/>
          </p:cNvPicPr>
          <p:nvPr/>
        </p:nvPicPr>
        <p:blipFill>
          <a:blip r:embed="rId4" cstate="print"/>
          <a:stretch>
            <a:fillRect/>
          </a:stretch>
        </p:blipFill>
        <p:spPr>
          <a:xfrm>
            <a:off x="4784505" y="535507"/>
            <a:ext cx="4190728" cy="5362570"/>
          </a:xfrm>
          <a:prstGeom prst="rect">
            <a:avLst/>
          </a:prstGeom>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6DA243B-1230-4462-9C49-D24F0F75252D}"/>
              </a:ext>
            </a:extLst>
          </p:cNvPr>
          <p:cNvSpPr>
            <a:spLocks noGrp="1"/>
          </p:cNvSpPr>
          <p:nvPr>
            <p:ph type="title"/>
          </p:nvPr>
        </p:nvSpPr>
        <p:spPr/>
        <p:txBody>
          <a:bodyPr/>
          <a:lstStyle/>
          <a:p>
            <a:pPr eaLnBrk="1" hangingPunct="1"/>
            <a:r>
              <a:rPr lang="en-US" altLang="en-US"/>
              <a:t>Chapter Outline</a:t>
            </a:r>
          </a:p>
        </p:txBody>
      </p:sp>
      <p:sp>
        <p:nvSpPr>
          <p:cNvPr id="3075" name="Content Placeholder 4">
            <a:extLst>
              <a:ext uri="{FF2B5EF4-FFF2-40B4-BE49-F238E27FC236}">
                <a16:creationId xmlns:a16="http://schemas.microsoft.com/office/drawing/2014/main" id="{012BBF07-CAFB-4F60-8289-27288E83E041}"/>
              </a:ext>
            </a:extLst>
          </p:cNvPr>
          <p:cNvSpPr>
            <a:spLocks noGrp="1"/>
          </p:cNvSpPr>
          <p:nvPr>
            <p:ph idx="1"/>
          </p:nvPr>
        </p:nvSpPr>
        <p:spPr/>
        <p:txBody>
          <a:bodyPr/>
          <a:lstStyle/>
          <a:p>
            <a:pPr eaLnBrk="1" hangingPunct="1"/>
            <a:r>
              <a:rPr lang="en-US" altLang="en-US" dirty="0"/>
              <a:t>1.1  An Overview of Statistics</a:t>
            </a:r>
          </a:p>
          <a:p>
            <a:pPr eaLnBrk="1" hangingPunct="1"/>
            <a:endParaRPr lang="en-US" altLang="en-US" dirty="0"/>
          </a:p>
          <a:p>
            <a:pPr eaLnBrk="1" hangingPunct="1"/>
            <a:r>
              <a:rPr lang="en-US" altLang="en-US" dirty="0"/>
              <a:t>1.2  Data Classification</a:t>
            </a:r>
          </a:p>
          <a:p>
            <a:pPr eaLnBrk="1" hangingPunct="1"/>
            <a:endParaRPr lang="en-US" altLang="en-US" dirty="0"/>
          </a:p>
          <a:p>
            <a:pPr eaLnBrk="1" hangingPunct="1"/>
            <a:r>
              <a:rPr lang="en-US" altLang="en-US" dirty="0"/>
              <a:t>1.3  Data Collection and Experimental Design</a:t>
            </a:r>
          </a:p>
        </p:txBody>
      </p:sp>
    </p:spTree>
    <p:extLst>
      <p:ext uri="{BB962C8B-B14F-4D97-AF65-F5344CB8AC3E}">
        <p14:creationId xmlns:p14="http://schemas.microsoft.com/office/powerpoint/2010/main" val="2503333284"/>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3">
            <a:extLst>
              <a:ext uri="{FF2B5EF4-FFF2-40B4-BE49-F238E27FC236}">
                <a16:creationId xmlns:a16="http://schemas.microsoft.com/office/drawing/2014/main" id="{7031284C-75CE-44BE-8E28-43078EA4EFA5}"/>
              </a:ext>
            </a:extLst>
          </p:cNvPr>
          <p:cNvSpPr>
            <a:spLocks noGrp="1"/>
          </p:cNvSpPr>
          <p:nvPr>
            <p:ph type="ctrTitle"/>
          </p:nvPr>
        </p:nvSpPr>
        <p:spPr/>
        <p:txBody>
          <a:bodyPr/>
          <a:lstStyle/>
          <a:p>
            <a:pPr eaLnBrk="1" hangingPunct="1"/>
            <a:r>
              <a:rPr lang="en-US" altLang="en-US"/>
              <a:t>Section 1.2</a:t>
            </a:r>
          </a:p>
        </p:txBody>
      </p:sp>
      <p:sp>
        <p:nvSpPr>
          <p:cNvPr id="5" name="Subtitle 4">
            <a:extLst>
              <a:ext uri="{FF2B5EF4-FFF2-40B4-BE49-F238E27FC236}">
                <a16:creationId xmlns:a16="http://schemas.microsoft.com/office/drawing/2014/main" id="{FCB466F8-2D7D-4DDF-8545-893562DF0F89}"/>
              </a:ext>
            </a:extLst>
          </p:cNvPr>
          <p:cNvSpPr>
            <a:spLocks noGrp="1"/>
          </p:cNvSpPr>
          <p:nvPr>
            <p:ph type="subTitle" idx="1"/>
          </p:nvPr>
        </p:nvSpPr>
        <p:spPr/>
        <p:txBody>
          <a:bodyPr/>
          <a:lstStyle/>
          <a:p>
            <a:pPr eaLnBrk="1" hangingPunct="1">
              <a:buFont typeface="Arial" charset="0"/>
              <a:buNone/>
              <a:defRPr/>
            </a:pPr>
            <a:r>
              <a:rPr lang="en-US" dirty="0"/>
              <a:t>Data Classification</a:t>
            </a:r>
          </a:p>
        </p:txBody>
      </p:sp>
    </p:spTree>
    <p:extLst>
      <p:ext uri="{BB962C8B-B14F-4D97-AF65-F5344CB8AC3E}">
        <p14:creationId xmlns:p14="http://schemas.microsoft.com/office/powerpoint/2010/main" val="325645650"/>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02FDEF2-89CE-4CA4-BF99-A5C2D362C13E}"/>
              </a:ext>
            </a:extLst>
          </p:cNvPr>
          <p:cNvSpPr>
            <a:spLocks noGrp="1"/>
          </p:cNvSpPr>
          <p:nvPr>
            <p:ph type="title"/>
          </p:nvPr>
        </p:nvSpPr>
        <p:spPr/>
        <p:txBody>
          <a:bodyPr/>
          <a:lstStyle/>
          <a:p>
            <a:pPr eaLnBrk="1" hangingPunct="1"/>
            <a:r>
              <a:rPr lang="en-US" altLang="en-US"/>
              <a:t>Section 1.2 Objectives</a:t>
            </a:r>
          </a:p>
        </p:txBody>
      </p:sp>
      <p:sp>
        <p:nvSpPr>
          <p:cNvPr id="5123" name="Content Placeholder 2">
            <a:extLst>
              <a:ext uri="{FF2B5EF4-FFF2-40B4-BE49-F238E27FC236}">
                <a16:creationId xmlns:a16="http://schemas.microsoft.com/office/drawing/2014/main" id="{FB648F76-CA5E-4A16-88FB-69069CF61558}"/>
              </a:ext>
            </a:extLst>
          </p:cNvPr>
          <p:cNvSpPr>
            <a:spLocks noGrp="1"/>
          </p:cNvSpPr>
          <p:nvPr>
            <p:ph idx="1"/>
          </p:nvPr>
        </p:nvSpPr>
        <p:spPr/>
        <p:txBody>
          <a:bodyPr/>
          <a:lstStyle/>
          <a:p>
            <a:pPr eaLnBrk="1" hangingPunct="1"/>
            <a:r>
              <a:rPr lang="en-US" altLang="en-US" dirty="0"/>
              <a:t>How to distinguish between qualitative data and quantitative data</a:t>
            </a:r>
          </a:p>
          <a:p>
            <a:pPr eaLnBrk="1" hangingPunct="1"/>
            <a:r>
              <a:rPr lang="en-US" altLang="en-US" dirty="0"/>
              <a:t>How to classify data with respect to the four levels of measurement: nominal, ordinal, interval, and ratio</a:t>
            </a:r>
          </a:p>
        </p:txBody>
      </p:sp>
    </p:spTree>
    <p:extLst>
      <p:ext uri="{BB962C8B-B14F-4D97-AF65-F5344CB8AC3E}">
        <p14:creationId xmlns:p14="http://schemas.microsoft.com/office/powerpoint/2010/main" val="1905492892"/>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53FE42E-A41E-4682-A246-56D7C286BF86}"/>
              </a:ext>
            </a:extLst>
          </p:cNvPr>
          <p:cNvSpPr>
            <a:spLocks noGrp="1"/>
          </p:cNvSpPr>
          <p:nvPr>
            <p:ph type="title"/>
          </p:nvPr>
        </p:nvSpPr>
        <p:spPr/>
        <p:txBody>
          <a:bodyPr/>
          <a:lstStyle/>
          <a:p>
            <a:pPr eaLnBrk="1" hangingPunct="1"/>
            <a:r>
              <a:rPr lang="en-US" altLang="en-US"/>
              <a:t>Types of Data</a:t>
            </a:r>
          </a:p>
        </p:txBody>
      </p:sp>
      <p:sp>
        <p:nvSpPr>
          <p:cNvPr id="6147" name="Content Placeholder 2">
            <a:extLst>
              <a:ext uri="{FF2B5EF4-FFF2-40B4-BE49-F238E27FC236}">
                <a16:creationId xmlns:a16="http://schemas.microsoft.com/office/drawing/2014/main" id="{9C2942BC-ECFE-4A9A-B2FB-30A803310C1F}"/>
              </a:ext>
            </a:extLst>
          </p:cNvPr>
          <p:cNvSpPr>
            <a:spLocks noGrp="1"/>
          </p:cNvSpPr>
          <p:nvPr>
            <p:ph idx="1"/>
          </p:nvPr>
        </p:nvSpPr>
        <p:spPr>
          <a:xfrm>
            <a:off x="457200" y="1600200"/>
            <a:ext cx="8229600" cy="1066800"/>
          </a:xfrm>
        </p:spPr>
        <p:txBody>
          <a:bodyPr/>
          <a:lstStyle/>
          <a:p>
            <a:pPr eaLnBrk="1" hangingPunct="1">
              <a:buFont typeface="Arial" panose="020B0604020202020204" pitchFamily="34" charset="0"/>
              <a:buNone/>
            </a:pPr>
            <a:r>
              <a:rPr lang="en-US" altLang="en-US" b="1">
                <a:solidFill>
                  <a:schemeClr val="accent2"/>
                </a:solidFill>
              </a:rPr>
              <a:t>Qualitative Data </a:t>
            </a:r>
          </a:p>
          <a:p>
            <a:pPr eaLnBrk="1" hangingPunct="1">
              <a:buFont typeface="Arial" panose="020B0604020202020204" pitchFamily="34" charset="0"/>
              <a:buNone/>
            </a:pPr>
            <a:r>
              <a:rPr lang="en-US" altLang="en-US"/>
              <a:t>Consists of attributes, labels, or nonnumerical entries.</a:t>
            </a:r>
          </a:p>
        </p:txBody>
      </p:sp>
      <p:pic>
        <p:nvPicPr>
          <p:cNvPr id="6148" name="Picture 3" descr="C:\Documents and Settings\Lyn\Local Settings\Temporary Internet Files\Content.IE5\6H52NUD0\MCBD20050_0000[1].wmf">
            <a:extLst>
              <a:ext uri="{FF2B5EF4-FFF2-40B4-BE49-F238E27FC236}">
                <a16:creationId xmlns:a16="http://schemas.microsoft.com/office/drawing/2014/main" id="{73DDBAA5-8F8E-4943-840A-3CB87E3A96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0800" y="4114800"/>
            <a:ext cx="966788"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descr="C:\Documents and Settings\Lyn\Local Settings\Temporary Internet Files\Content.IE5\4PW9QZ0D\MCj04084370000[1].wmf">
            <a:extLst>
              <a:ext uri="{FF2B5EF4-FFF2-40B4-BE49-F238E27FC236}">
                <a16:creationId xmlns:a16="http://schemas.microsoft.com/office/drawing/2014/main" id="{034F5B61-6F93-40DD-913C-7A4971367C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9900" y="4114800"/>
            <a:ext cx="195580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5" descr="C:\Documents and Settings\Lyn\Local Settings\Temporary Internet Files\Content.IE5\W9M7WLEZ\MCj01954220000[1].wmf">
            <a:extLst>
              <a:ext uri="{FF2B5EF4-FFF2-40B4-BE49-F238E27FC236}">
                <a16:creationId xmlns:a16="http://schemas.microsoft.com/office/drawing/2014/main" id="{26F400DC-19C6-4DD4-8741-4701F3DA0E7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400" y="3962400"/>
            <a:ext cx="10572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Box 7">
            <a:extLst>
              <a:ext uri="{FF2B5EF4-FFF2-40B4-BE49-F238E27FC236}">
                <a16:creationId xmlns:a16="http://schemas.microsoft.com/office/drawing/2014/main" id="{0B3A4BA3-B6F4-49C3-800C-641075924B6D}"/>
              </a:ext>
            </a:extLst>
          </p:cNvPr>
          <p:cNvSpPr txBox="1">
            <a:spLocks noChangeArrowheads="1"/>
          </p:cNvSpPr>
          <p:nvPr/>
        </p:nvSpPr>
        <p:spPr bwMode="auto">
          <a:xfrm>
            <a:off x="914400" y="3352800"/>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Major</a:t>
            </a:r>
          </a:p>
        </p:txBody>
      </p:sp>
      <p:sp>
        <p:nvSpPr>
          <p:cNvPr id="6152" name="TextBox 8">
            <a:extLst>
              <a:ext uri="{FF2B5EF4-FFF2-40B4-BE49-F238E27FC236}">
                <a16:creationId xmlns:a16="http://schemas.microsoft.com/office/drawing/2014/main" id="{59312CC1-6749-46DE-BDEC-7307CA0ADA2C}"/>
              </a:ext>
            </a:extLst>
          </p:cNvPr>
          <p:cNvSpPr txBox="1">
            <a:spLocks noChangeArrowheads="1"/>
          </p:cNvSpPr>
          <p:nvPr/>
        </p:nvSpPr>
        <p:spPr bwMode="auto">
          <a:xfrm>
            <a:off x="2932113" y="3352800"/>
            <a:ext cx="2111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Place of birth</a:t>
            </a:r>
          </a:p>
        </p:txBody>
      </p:sp>
      <p:sp>
        <p:nvSpPr>
          <p:cNvPr id="6153" name="TextBox 9">
            <a:extLst>
              <a:ext uri="{FF2B5EF4-FFF2-40B4-BE49-F238E27FC236}">
                <a16:creationId xmlns:a16="http://schemas.microsoft.com/office/drawing/2014/main" id="{7D6BBD88-7B4E-4807-9296-C39BE3AA91AE}"/>
              </a:ext>
            </a:extLst>
          </p:cNvPr>
          <p:cNvSpPr txBox="1">
            <a:spLocks noChangeArrowheads="1"/>
          </p:cNvSpPr>
          <p:nvPr/>
        </p:nvSpPr>
        <p:spPr bwMode="auto">
          <a:xfrm>
            <a:off x="6019800" y="3362325"/>
            <a:ext cx="312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Eye color</a:t>
            </a:r>
          </a:p>
        </p:txBody>
      </p:sp>
    </p:spTree>
    <p:extLst>
      <p:ext uri="{BB962C8B-B14F-4D97-AF65-F5344CB8AC3E}">
        <p14:creationId xmlns:p14="http://schemas.microsoft.com/office/powerpoint/2010/main" val="4131442391"/>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0D3C11F-803A-4EFC-B348-A3C1FB3D783B}"/>
              </a:ext>
            </a:extLst>
          </p:cNvPr>
          <p:cNvSpPr>
            <a:spLocks noGrp="1"/>
          </p:cNvSpPr>
          <p:nvPr>
            <p:ph type="title"/>
          </p:nvPr>
        </p:nvSpPr>
        <p:spPr/>
        <p:txBody>
          <a:bodyPr/>
          <a:lstStyle/>
          <a:p>
            <a:pPr eaLnBrk="1" hangingPunct="1"/>
            <a:r>
              <a:rPr lang="en-US" altLang="en-US"/>
              <a:t>Types of Data</a:t>
            </a:r>
          </a:p>
        </p:txBody>
      </p:sp>
      <p:sp>
        <p:nvSpPr>
          <p:cNvPr id="7171" name="Content Placeholder 2">
            <a:extLst>
              <a:ext uri="{FF2B5EF4-FFF2-40B4-BE49-F238E27FC236}">
                <a16:creationId xmlns:a16="http://schemas.microsoft.com/office/drawing/2014/main" id="{33F6E965-61A2-47EF-B20F-E9DF5D7E9A54}"/>
              </a:ext>
            </a:extLst>
          </p:cNvPr>
          <p:cNvSpPr>
            <a:spLocks noGrp="1"/>
          </p:cNvSpPr>
          <p:nvPr>
            <p:ph idx="1"/>
          </p:nvPr>
        </p:nvSpPr>
        <p:spPr>
          <a:xfrm>
            <a:off x="457200" y="1600200"/>
            <a:ext cx="8229600" cy="1066800"/>
          </a:xfrm>
        </p:spPr>
        <p:txBody>
          <a:bodyPr/>
          <a:lstStyle/>
          <a:p>
            <a:pPr eaLnBrk="1" hangingPunct="1">
              <a:buFont typeface="Arial" panose="020B0604020202020204" pitchFamily="34" charset="0"/>
              <a:buNone/>
            </a:pPr>
            <a:r>
              <a:rPr lang="en-US" altLang="en-US" b="1">
                <a:solidFill>
                  <a:schemeClr val="accent2"/>
                </a:solidFill>
              </a:rPr>
              <a:t>Quantitative data</a:t>
            </a:r>
            <a:r>
              <a:rPr lang="en-US" altLang="en-US">
                <a:solidFill>
                  <a:schemeClr val="bg2"/>
                </a:solidFill>
              </a:rPr>
              <a:t>  </a:t>
            </a:r>
          </a:p>
          <a:p>
            <a:pPr eaLnBrk="1" hangingPunct="1">
              <a:buFont typeface="Arial" panose="020B0604020202020204" pitchFamily="34" charset="0"/>
              <a:buNone/>
            </a:pPr>
            <a:r>
              <a:rPr lang="en-US" altLang="en-US"/>
              <a:t>Numerical measurements or counts.</a:t>
            </a:r>
          </a:p>
        </p:txBody>
      </p:sp>
      <p:pic>
        <p:nvPicPr>
          <p:cNvPr id="7172" name="Picture 13" descr="C:\Documents and Settings\Lyn\Local Settings\Temporary Internet Files\Content.IE5\9RJB9XCE\MCj03015120000[1].wmf">
            <a:extLst>
              <a:ext uri="{FF2B5EF4-FFF2-40B4-BE49-F238E27FC236}">
                <a16:creationId xmlns:a16="http://schemas.microsoft.com/office/drawing/2014/main" id="{33098250-0C76-4859-983F-F2B44ED750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150" y="3862388"/>
            <a:ext cx="1784350" cy="15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21">
            <a:extLst>
              <a:ext uri="{FF2B5EF4-FFF2-40B4-BE49-F238E27FC236}">
                <a16:creationId xmlns:a16="http://schemas.microsoft.com/office/drawing/2014/main" id="{38246668-12A5-454E-845E-97660342F1D5}"/>
              </a:ext>
            </a:extLst>
          </p:cNvPr>
          <p:cNvSpPr txBox="1">
            <a:spLocks noChangeArrowheads="1"/>
          </p:cNvSpPr>
          <p:nvPr/>
        </p:nvSpPr>
        <p:spPr bwMode="auto">
          <a:xfrm>
            <a:off x="1219200" y="3176588"/>
            <a:ext cx="1143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Age</a:t>
            </a:r>
          </a:p>
        </p:txBody>
      </p:sp>
      <p:pic>
        <p:nvPicPr>
          <p:cNvPr id="7174" name="Picture 14" descr="C:\Documents and Settings\Lyn\Local Settings\Temporary Internet Files\Content.IE5\NA0VVPWD\MCj02394850000[1].wmf">
            <a:extLst>
              <a:ext uri="{FF2B5EF4-FFF2-40B4-BE49-F238E27FC236}">
                <a16:creationId xmlns:a16="http://schemas.microsoft.com/office/drawing/2014/main" id="{6AA94B66-9100-45A6-B127-CB634E44EC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76613" y="3740150"/>
            <a:ext cx="1652587"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Box 23">
            <a:extLst>
              <a:ext uri="{FF2B5EF4-FFF2-40B4-BE49-F238E27FC236}">
                <a16:creationId xmlns:a16="http://schemas.microsoft.com/office/drawing/2014/main" id="{69DF76B3-6229-44FA-B941-D32EC3AE55BD}"/>
              </a:ext>
            </a:extLst>
          </p:cNvPr>
          <p:cNvSpPr txBox="1">
            <a:spLocks noChangeArrowheads="1"/>
          </p:cNvSpPr>
          <p:nvPr/>
        </p:nvSpPr>
        <p:spPr bwMode="auto">
          <a:xfrm>
            <a:off x="2819400" y="3176588"/>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Weight of a letter</a:t>
            </a:r>
          </a:p>
        </p:txBody>
      </p:sp>
      <p:sp>
        <p:nvSpPr>
          <p:cNvPr id="7176" name="TextBox 24">
            <a:extLst>
              <a:ext uri="{FF2B5EF4-FFF2-40B4-BE49-F238E27FC236}">
                <a16:creationId xmlns:a16="http://schemas.microsoft.com/office/drawing/2014/main" id="{76CECD0D-7D64-44C7-9A92-DBF87ABC0D85}"/>
              </a:ext>
            </a:extLst>
          </p:cNvPr>
          <p:cNvSpPr txBox="1">
            <a:spLocks noChangeArrowheads="1"/>
          </p:cNvSpPr>
          <p:nvPr/>
        </p:nvSpPr>
        <p:spPr bwMode="auto">
          <a:xfrm>
            <a:off x="5867400" y="3176588"/>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a:cs typeface="Arial" panose="020B0604020202020204" pitchFamily="34" charset="0"/>
              </a:rPr>
              <a:t>Temperature</a:t>
            </a:r>
          </a:p>
        </p:txBody>
      </p:sp>
      <p:pic>
        <p:nvPicPr>
          <p:cNvPr id="7177" name="Picture 17" descr="C:\Documents and Settings\Lyn\Local Settings\Temporary Internet Files\Content.IE5\9RJB9XCE\MCNA01203_0000[1].wmf">
            <a:extLst>
              <a:ext uri="{FF2B5EF4-FFF2-40B4-BE49-F238E27FC236}">
                <a16:creationId xmlns:a16="http://schemas.microsoft.com/office/drawing/2014/main" id="{29E7F8C8-F1AE-4520-864A-8C38E2EDEBF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7000" y="3786188"/>
            <a:ext cx="960438"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9958694"/>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BCB1-2A37-40C7-9983-CBB3B26ADAE3}"/>
              </a:ext>
            </a:extLst>
          </p:cNvPr>
          <p:cNvSpPr>
            <a:spLocks noGrp="1"/>
          </p:cNvSpPr>
          <p:nvPr>
            <p:ph type="title"/>
          </p:nvPr>
        </p:nvSpPr>
        <p:spPr/>
        <p:txBody>
          <a:bodyPr/>
          <a:lstStyle/>
          <a:p>
            <a:pPr eaLnBrk="1" hangingPunct="1">
              <a:defRPr/>
            </a:pPr>
            <a:r>
              <a:rPr lang="en-US" dirty="0">
                <a:solidFill>
                  <a:schemeClr val="accent3"/>
                </a:solidFill>
              </a:rPr>
              <a:t>Example: Classifying Data by Type</a:t>
            </a:r>
          </a:p>
        </p:txBody>
      </p:sp>
      <p:sp>
        <p:nvSpPr>
          <p:cNvPr id="8195" name="Content Placeholder 2">
            <a:extLst>
              <a:ext uri="{FF2B5EF4-FFF2-40B4-BE49-F238E27FC236}">
                <a16:creationId xmlns:a16="http://schemas.microsoft.com/office/drawing/2014/main" id="{827F2250-CD73-4619-905D-7F303E21CF5D}"/>
              </a:ext>
            </a:extLst>
          </p:cNvPr>
          <p:cNvSpPr>
            <a:spLocks noGrp="1"/>
          </p:cNvSpPr>
          <p:nvPr>
            <p:ph idx="1"/>
          </p:nvPr>
        </p:nvSpPr>
        <p:spPr>
          <a:xfrm>
            <a:off x="457200" y="1600199"/>
            <a:ext cx="8229600" cy="3407229"/>
          </a:xfrm>
        </p:spPr>
        <p:txBody>
          <a:bodyPr/>
          <a:lstStyle/>
          <a:p>
            <a:pPr marL="0" indent="0">
              <a:buNone/>
            </a:pPr>
            <a:r>
              <a:rPr lang="en-US" dirty="0"/>
              <a:t>The table shows sports-related head injuries treated in U.S. emergency rooms during a recent five-year span for several sports. Which data </a:t>
            </a:r>
            <a:br>
              <a:rPr lang="en-US" dirty="0"/>
            </a:br>
            <a:r>
              <a:rPr lang="en-US" dirty="0"/>
              <a:t>are qualitative data and which </a:t>
            </a:r>
            <a:br>
              <a:rPr lang="en-US" dirty="0"/>
            </a:br>
            <a:r>
              <a:rPr lang="en-US" dirty="0"/>
              <a:t>are quantitative data? </a:t>
            </a:r>
            <a:br>
              <a:rPr lang="en-US" dirty="0"/>
            </a:br>
            <a:r>
              <a:rPr lang="en-US" i="1" dirty="0">
                <a:solidFill>
                  <a:schemeClr val="tx2">
                    <a:lumMod val="75000"/>
                  </a:schemeClr>
                </a:solidFill>
              </a:rPr>
              <a:t>(Source: BMC Emergency </a:t>
            </a:r>
            <a:br>
              <a:rPr lang="en-US" i="1" dirty="0">
                <a:solidFill>
                  <a:schemeClr val="tx2">
                    <a:lumMod val="75000"/>
                  </a:schemeClr>
                </a:solidFill>
              </a:rPr>
            </a:br>
            <a:r>
              <a:rPr lang="en-US" i="1" dirty="0">
                <a:solidFill>
                  <a:schemeClr val="tx2">
                    <a:lumMod val="75000"/>
                  </a:schemeClr>
                </a:solidFill>
              </a:rPr>
              <a:t>Medicine)</a:t>
            </a:r>
            <a:endParaRPr lang="en-US" altLang="en-US" sz="2400" i="1" dirty="0">
              <a:solidFill>
                <a:schemeClr val="tx2">
                  <a:lumMod val="75000"/>
                </a:schemeClr>
              </a:solidFill>
            </a:endParaRPr>
          </a:p>
        </p:txBody>
      </p:sp>
      <p:pic>
        <p:nvPicPr>
          <p:cNvPr id="5" name="Picture 4" descr="A screenshot of a cell phone&#10;&#10;Description generated with very high confidence">
            <a:extLst>
              <a:ext uri="{FF2B5EF4-FFF2-40B4-BE49-F238E27FC236}">
                <a16:creationId xmlns:a16="http://schemas.microsoft.com/office/drawing/2014/main" id="{C97239EE-A226-4293-A86C-0F6DCE47D9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39557" y="2677887"/>
            <a:ext cx="3205116" cy="3516086"/>
          </a:xfrm>
          <a:prstGeom prst="rect">
            <a:avLst/>
          </a:prstGeom>
        </p:spPr>
      </p:pic>
    </p:spTree>
    <p:extLst>
      <p:ext uri="{BB962C8B-B14F-4D97-AF65-F5344CB8AC3E}">
        <p14:creationId xmlns:p14="http://schemas.microsoft.com/office/powerpoint/2010/main" val="30873286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ell phone&#10;&#10;Description generated with very high confidence">
            <a:extLst>
              <a:ext uri="{FF2B5EF4-FFF2-40B4-BE49-F238E27FC236}">
                <a16:creationId xmlns:a16="http://schemas.microsoft.com/office/drawing/2014/main" id="{19698F3A-5204-480E-84D5-79B8928E50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8766" y="1170214"/>
            <a:ext cx="3086039" cy="3385456"/>
          </a:xfrm>
          <a:prstGeom prst="rect">
            <a:avLst/>
          </a:prstGeom>
        </p:spPr>
      </p:pic>
      <p:sp>
        <p:nvSpPr>
          <p:cNvPr id="2" name="Title 1">
            <a:extLst>
              <a:ext uri="{FF2B5EF4-FFF2-40B4-BE49-F238E27FC236}">
                <a16:creationId xmlns:a16="http://schemas.microsoft.com/office/drawing/2014/main" id="{37D06996-9AB0-4F3C-94C2-77190418BAC4}"/>
              </a:ext>
            </a:extLst>
          </p:cNvPr>
          <p:cNvSpPr>
            <a:spLocks noGrp="1"/>
          </p:cNvSpPr>
          <p:nvPr>
            <p:ph type="title"/>
          </p:nvPr>
        </p:nvSpPr>
        <p:spPr/>
        <p:txBody>
          <a:bodyPr/>
          <a:lstStyle/>
          <a:p>
            <a:pPr eaLnBrk="1" hangingPunct="1">
              <a:defRPr/>
            </a:pPr>
            <a:r>
              <a:rPr lang="en-US" dirty="0">
                <a:solidFill>
                  <a:schemeClr val="accent3"/>
                </a:solidFill>
              </a:rPr>
              <a:t>Solution: Classifying Data by Type</a:t>
            </a:r>
          </a:p>
        </p:txBody>
      </p:sp>
      <p:sp>
        <p:nvSpPr>
          <p:cNvPr id="7" name="TextBox 6">
            <a:extLst>
              <a:ext uri="{FF2B5EF4-FFF2-40B4-BE49-F238E27FC236}">
                <a16:creationId xmlns:a16="http://schemas.microsoft.com/office/drawing/2014/main" id="{236AE451-6A6F-44C6-8AB1-A9608C102EFD}"/>
              </a:ext>
            </a:extLst>
          </p:cNvPr>
          <p:cNvSpPr txBox="1">
            <a:spLocks noChangeArrowheads="1"/>
          </p:cNvSpPr>
          <p:nvPr/>
        </p:nvSpPr>
        <p:spPr bwMode="auto">
          <a:xfrm>
            <a:off x="4495800" y="4419600"/>
            <a:ext cx="3505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r>
              <a:rPr lang="en-US" altLang="en-US" b="1" dirty="0">
                <a:cs typeface="Arial" panose="020B0604020202020204" pitchFamily="34" charset="0"/>
              </a:rPr>
              <a:t>Quantitative Data </a:t>
            </a:r>
            <a:r>
              <a:rPr lang="en-US" altLang="en-US" dirty="0">
                <a:cs typeface="Arial" panose="020B0604020202020204" pitchFamily="34" charset="0"/>
              </a:rPr>
              <a:t>(Head injuries treated are </a:t>
            </a:r>
            <a:r>
              <a:rPr lang="en-US" altLang="en-US" b="1" dirty="0">
                <a:cs typeface="Arial" panose="020B0604020202020204" pitchFamily="34" charset="0"/>
              </a:rPr>
              <a:t>numerical</a:t>
            </a:r>
            <a:r>
              <a:rPr lang="en-US" altLang="en-US" dirty="0">
                <a:cs typeface="Arial" panose="020B0604020202020204" pitchFamily="34" charset="0"/>
              </a:rPr>
              <a:t> entries.)</a:t>
            </a:r>
          </a:p>
        </p:txBody>
      </p:sp>
      <p:sp>
        <p:nvSpPr>
          <p:cNvPr id="9221" name="AutoShape 17">
            <a:extLst>
              <a:ext uri="{FF2B5EF4-FFF2-40B4-BE49-F238E27FC236}">
                <a16:creationId xmlns:a16="http://schemas.microsoft.com/office/drawing/2014/main" id="{C6A1E53F-DB63-4C34-A01B-C6BC1BAE62AA}"/>
              </a:ext>
            </a:extLst>
          </p:cNvPr>
          <p:cNvSpPr>
            <a:spLocks noChangeArrowheads="1"/>
          </p:cNvSpPr>
          <p:nvPr/>
        </p:nvSpPr>
        <p:spPr bwMode="auto">
          <a:xfrm>
            <a:off x="4200838" y="2909672"/>
            <a:ext cx="1336675" cy="509587"/>
          </a:xfrm>
          <a:prstGeom prst="roundRect">
            <a:avLst>
              <a:gd name="adj" fmla="val 16667"/>
            </a:avLst>
          </a:prstGeom>
          <a:noFill/>
          <a:ln w="254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FontTx/>
              <a:buNone/>
            </a:pPr>
            <a:endParaRPr lang="en-US" altLang="en-US" sz="1800" b="1">
              <a:latin typeface="Arial" panose="020B0604020202020204" pitchFamily="34" charset="0"/>
              <a:cs typeface="Arial" panose="020B0604020202020204" pitchFamily="34" charset="0"/>
            </a:endParaRPr>
          </a:p>
        </p:txBody>
      </p:sp>
      <p:sp>
        <p:nvSpPr>
          <p:cNvPr id="9222" name="AutoShape 18">
            <a:extLst>
              <a:ext uri="{FF2B5EF4-FFF2-40B4-BE49-F238E27FC236}">
                <a16:creationId xmlns:a16="http://schemas.microsoft.com/office/drawing/2014/main" id="{AEFE7E45-02FC-4248-A151-CF626899CAEB}"/>
              </a:ext>
            </a:extLst>
          </p:cNvPr>
          <p:cNvSpPr>
            <a:spLocks noChangeArrowheads="1"/>
          </p:cNvSpPr>
          <p:nvPr/>
        </p:nvSpPr>
        <p:spPr bwMode="auto">
          <a:xfrm>
            <a:off x="2607010" y="2909671"/>
            <a:ext cx="1090613" cy="509588"/>
          </a:xfrm>
          <a:prstGeom prst="roundRect">
            <a:avLst>
              <a:gd name="adj" fmla="val 16667"/>
            </a:avLst>
          </a:prstGeom>
          <a:noFill/>
          <a:ln w="254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FontTx/>
              <a:buNone/>
            </a:pPr>
            <a:endParaRPr lang="en-US" altLang="en-US" sz="1800">
              <a:latin typeface="Arial" panose="020B0604020202020204" pitchFamily="34" charset="0"/>
              <a:cs typeface="Arial" panose="020B0604020202020204" pitchFamily="34" charset="0"/>
            </a:endParaRPr>
          </a:p>
        </p:txBody>
      </p:sp>
      <p:sp>
        <p:nvSpPr>
          <p:cNvPr id="9223" name="Line 19">
            <a:extLst>
              <a:ext uri="{FF2B5EF4-FFF2-40B4-BE49-F238E27FC236}">
                <a16:creationId xmlns:a16="http://schemas.microsoft.com/office/drawing/2014/main" id="{EC6891F1-5E18-4283-A618-AF9D1A964499}"/>
              </a:ext>
            </a:extLst>
          </p:cNvPr>
          <p:cNvSpPr>
            <a:spLocks noChangeShapeType="1"/>
          </p:cNvSpPr>
          <p:nvPr/>
        </p:nvSpPr>
        <p:spPr bwMode="auto">
          <a:xfrm>
            <a:off x="5487168" y="3419259"/>
            <a:ext cx="861245" cy="1047966"/>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4" name="Line 20">
            <a:extLst>
              <a:ext uri="{FF2B5EF4-FFF2-40B4-BE49-F238E27FC236}">
                <a16:creationId xmlns:a16="http://schemas.microsoft.com/office/drawing/2014/main" id="{54CC9A22-1A92-44C1-94B9-FC9B651F1B8F}"/>
              </a:ext>
            </a:extLst>
          </p:cNvPr>
          <p:cNvSpPr>
            <a:spLocks noChangeShapeType="1"/>
          </p:cNvSpPr>
          <p:nvPr/>
        </p:nvSpPr>
        <p:spPr bwMode="auto">
          <a:xfrm flipH="1">
            <a:off x="1921164" y="3437731"/>
            <a:ext cx="785091" cy="1027907"/>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5" name="Text Box 21">
            <a:extLst>
              <a:ext uri="{FF2B5EF4-FFF2-40B4-BE49-F238E27FC236}">
                <a16:creationId xmlns:a16="http://schemas.microsoft.com/office/drawing/2014/main" id="{08F36BC9-5CF7-4587-88A8-FD85E49089D1}"/>
              </a:ext>
            </a:extLst>
          </p:cNvPr>
          <p:cNvSpPr txBox="1">
            <a:spLocks noChangeArrowheads="1"/>
          </p:cNvSpPr>
          <p:nvPr/>
        </p:nvSpPr>
        <p:spPr bwMode="auto">
          <a:xfrm>
            <a:off x="474663" y="4465638"/>
            <a:ext cx="383381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FontTx/>
              <a:buNone/>
            </a:pPr>
            <a:r>
              <a:rPr lang="en-US" altLang="en-US" b="1" dirty="0">
                <a:cs typeface="Arial" panose="020B0604020202020204" pitchFamily="34" charset="0"/>
              </a:rPr>
              <a:t>Qualitative Data   </a:t>
            </a:r>
            <a:r>
              <a:rPr lang="en-US" altLang="en-US" dirty="0">
                <a:cs typeface="Arial" panose="020B0604020202020204" pitchFamily="34" charset="0"/>
              </a:rPr>
              <a:t>(Types of sports are </a:t>
            </a:r>
            <a:r>
              <a:rPr lang="en-US" altLang="en-US" b="1" dirty="0" err="1">
                <a:cs typeface="Arial" panose="020B0604020202020204" pitchFamily="34" charset="0"/>
              </a:rPr>
              <a:t>nonnumerical</a:t>
            </a:r>
            <a:r>
              <a:rPr lang="en-US" altLang="en-US" dirty="0">
                <a:cs typeface="Arial" panose="020B0604020202020204" pitchFamily="34" charset="0"/>
              </a:rPr>
              <a:t> entries.)</a:t>
            </a:r>
            <a:r>
              <a:rPr lang="en-US" altLang="en-US"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842198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wheel(1)">
                                      <p:cBhvr>
                                        <p:cTn id="7" dur="1000"/>
                                        <p:tgtEl>
                                          <p:spTgt spid="9222"/>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224"/>
                                        </p:tgtEl>
                                        <p:attrNameLst>
                                          <p:attrName>style.visibility</p:attrName>
                                        </p:attrNameLst>
                                      </p:cBhvr>
                                      <p:to>
                                        <p:strVal val="visible"/>
                                      </p:to>
                                    </p:set>
                                    <p:animEffect transition="in" filter="wipe(up)">
                                      <p:cBhvr>
                                        <p:cTn id="11" dur="500"/>
                                        <p:tgtEl>
                                          <p:spTgt spid="9224"/>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9225"/>
                                        </p:tgtEl>
                                        <p:attrNameLst>
                                          <p:attrName>style.visibility</p:attrName>
                                        </p:attrNameLst>
                                      </p:cBhvr>
                                      <p:to>
                                        <p:strVal val="visible"/>
                                      </p:to>
                                    </p:set>
                                    <p:animEffect transition="in" filter="fade">
                                      <p:cBhvr>
                                        <p:cTn id="15" dur="500"/>
                                        <p:tgtEl>
                                          <p:spTgt spid="9225"/>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9221"/>
                                        </p:tgtEl>
                                        <p:attrNameLst>
                                          <p:attrName>style.visibility</p:attrName>
                                        </p:attrNameLst>
                                      </p:cBhvr>
                                      <p:to>
                                        <p:strVal val="visible"/>
                                      </p:to>
                                    </p:set>
                                    <p:animEffect transition="in" filter="wheel(1)">
                                      <p:cBhvr>
                                        <p:cTn id="20" dur="1000"/>
                                        <p:tgtEl>
                                          <p:spTgt spid="9221"/>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9223"/>
                                        </p:tgtEl>
                                        <p:attrNameLst>
                                          <p:attrName>style.visibility</p:attrName>
                                        </p:attrNameLst>
                                      </p:cBhvr>
                                      <p:to>
                                        <p:strVal val="visible"/>
                                      </p:to>
                                    </p:set>
                                    <p:animEffect transition="in" filter="wipe(up)">
                                      <p:cBhvr>
                                        <p:cTn id="24" dur="500"/>
                                        <p:tgtEl>
                                          <p:spTgt spid="922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221" grpId="0" animBg="1"/>
      <p:bldP spid="9222" grpId="0" animBg="1"/>
      <p:bldP spid="9223" grpId="0" animBg="1"/>
      <p:bldP spid="9224" grpId="0" animBg="1"/>
      <p:bldP spid="92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2">
            <a:extLst>
              <a:ext uri="{FF2B5EF4-FFF2-40B4-BE49-F238E27FC236}">
                <a16:creationId xmlns:a16="http://schemas.microsoft.com/office/drawing/2014/main" id="{DC230B8F-EE91-4765-999F-7DEBC10B85EF}"/>
              </a:ext>
            </a:extLst>
          </p:cNvPr>
          <p:cNvSpPr>
            <a:spLocks noGrp="1"/>
          </p:cNvSpPr>
          <p:nvPr>
            <p:ph type="title"/>
          </p:nvPr>
        </p:nvSpPr>
        <p:spPr/>
        <p:txBody>
          <a:bodyPr/>
          <a:lstStyle/>
          <a:p>
            <a:pPr eaLnBrk="1" hangingPunct="1"/>
            <a:r>
              <a:rPr lang="en-US" altLang="en-US"/>
              <a:t>Levels of Measurement</a:t>
            </a:r>
          </a:p>
        </p:txBody>
      </p:sp>
      <p:sp>
        <p:nvSpPr>
          <p:cNvPr id="10243" name="Content Placeholder 3">
            <a:extLst>
              <a:ext uri="{FF2B5EF4-FFF2-40B4-BE49-F238E27FC236}">
                <a16:creationId xmlns:a16="http://schemas.microsoft.com/office/drawing/2014/main" id="{6BE0599D-1094-4FCA-9A35-9256ECEAD27E}"/>
              </a:ext>
            </a:extLst>
          </p:cNvPr>
          <p:cNvSpPr>
            <a:spLocks noGrp="1"/>
          </p:cNvSpPr>
          <p:nvPr>
            <p:ph idx="1"/>
          </p:nvPr>
        </p:nvSpPr>
        <p:spPr>
          <a:xfrm>
            <a:off x="457200" y="1600200"/>
            <a:ext cx="8229600" cy="2209800"/>
          </a:xfrm>
        </p:spPr>
        <p:txBody>
          <a:bodyPr/>
          <a:lstStyle/>
          <a:p>
            <a:pPr eaLnBrk="1" hangingPunct="1">
              <a:buFont typeface="Arial" panose="020B0604020202020204" pitchFamily="34" charset="0"/>
              <a:buNone/>
            </a:pPr>
            <a:r>
              <a:rPr lang="en-US" altLang="en-US" b="1">
                <a:solidFill>
                  <a:schemeClr val="accent2"/>
                </a:solidFill>
              </a:rPr>
              <a:t>Nominal level of measurement</a:t>
            </a:r>
          </a:p>
          <a:p>
            <a:pPr eaLnBrk="1" hangingPunct="1"/>
            <a:r>
              <a:rPr lang="en-US" altLang="en-US"/>
              <a:t>Qualitative data only</a:t>
            </a:r>
          </a:p>
          <a:p>
            <a:pPr eaLnBrk="1" hangingPunct="1"/>
            <a:r>
              <a:rPr lang="en-US" altLang="en-US"/>
              <a:t>Categorized using names, labels, or qualities</a:t>
            </a:r>
          </a:p>
          <a:p>
            <a:pPr eaLnBrk="1" hangingPunct="1"/>
            <a:r>
              <a:rPr lang="en-US" altLang="en-US"/>
              <a:t>No mathematical computations can be made</a:t>
            </a:r>
          </a:p>
        </p:txBody>
      </p:sp>
      <p:sp>
        <p:nvSpPr>
          <p:cNvPr id="23556" name="Content Placeholder 3">
            <a:extLst>
              <a:ext uri="{FF2B5EF4-FFF2-40B4-BE49-F238E27FC236}">
                <a16:creationId xmlns:a16="http://schemas.microsoft.com/office/drawing/2014/main" id="{6B29C2A4-A7AC-4BF4-8442-D0EDD88B8F0B}"/>
              </a:ext>
            </a:extLst>
          </p:cNvPr>
          <p:cNvSpPr txBox="1">
            <a:spLocks/>
          </p:cNvSpPr>
          <p:nvPr/>
        </p:nvSpPr>
        <p:spPr bwMode="auto">
          <a:xfrm>
            <a:off x="457200" y="3886200"/>
            <a:ext cx="8229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b="1" dirty="0">
                <a:solidFill>
                  <a:schemeClr val="accent2"/>
                </a:solidFill>
              </a:rPr>
              <a:t>Ordinal level of measurement</a:t>
            </a:r>
          </a:p>
          <a:p>
            <a:pPr eaLnBrk="1" hangingPunct="1"/>
            <a:r>
              <a:rPr lang="en-US" altLang="en-US" dirty="0"/>
              <a:t>Qualitative or quantitative data</a:t>
            </a:r>
          </a:p>
          <a:p>
            <a:pPr eaLnBrk="1" hangingPunct="1"/>
            <a:r>
              <a:rPr lang="en-US" altLang="en-US" dirty="0"/>
              <a:t>Data can be arranged in order, or ranked</a:t>
            </a:r>
          </a:p>
          <a:p>
            <a:pPr eaLnBrk="1" hangingPunct="1"/>
            <a:r>
              <a:rPr lang="en-US" altLang="en-US" dirty="0"/>
              <a:t>Differences between data entries is not meaningful</a:t>
            </a:r>
          </a:p>
        </p:txBody>
      </p:sp>
    </p:spTree>
    <p:extLst>
      <p:ext uri="{BB962C8B-B14F-4D97-AF65-F5344CB8AC3E}">
        <p14:creationId xmlns:p14="http://schemas.microsoft.com/office/powerpoint/2010/main" val="161298398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A3A7-E88D-49AE-AC51-5577511DB842}"/>
              </a:ext>
            </a:extLst>
          </p:cNvPr>
          <p:cNvSpPr>
            <a:spLocks noGrp="1"/>
          </p:cNvSpPr>
          <p:nvPr>
            <p:ph type="title"/>
          </p:nvPr>
        </p:nvSpPr>
        <p:spPr/>
        <p:txBody>
          <a:bodyPr/>
          <a:lstStyle/>
          <a:p>
            <a:pPr eaLnBrk="1" hangingPunct="1">
              <a:defRPr/>
            </a:pPr>
            <a:r>
              <a:rPr lang="en-US" dirty="0">
                <a:solidFill>
                  <a:schemeClr val="accent3"/>
                </a:solidFill>
              </a:rPr>
              <a:t>Example: Classifying Data by Level</a:t>
            </a:r>
          </a:p>
        </p:txBody>
      </p:sp>
      <p:sp>
        <p:nvSpPr>
          <p:cNvPr id="11267" name="Content Placeholder 2">
            <a:extLst>
              <a:ext uri="{FF2B5EF4-FFF2-40B4-BE49-F238E27FC236}">
                <a16:creationId xmlns:a16="http://schemas.microsoft.com/office/drawing/2014/main" id="{4E8205F2-8E32-4997-AC3C-2E3D88ED6FB0}"/>
              </a:ext>
            </a:extLst>
          </p:cNvPr>
          <p:cNvSpPr>
            <a:spLocks noGrp="1"/>
          </p:cNvSpPr>
          <p:nvPr>
            <p:ph idx="1"/>
          </p:nvPr>
        </p:nvSpPr>
        <p:spPr>
          <a:xfrm>
            <a:off x="457200" y="1600200"/>
            <a:ext cx="8229600" cy="1600200"/>
          </a:xfrm>
        </p:spPr>
        <p:txBody>
          <a:bodyPr/>
          <a:lstStyle/>
          <a:p>
            <a:pPr marL="0" indent="0">
              <a:buNone/>
            </a:pPr>
            <a:r>
              <a:rPr lang="en-US" dirty="0"/>
              <a:t>For each data set, determine whether the data are at the nominal level or at the ordinal level. Explain your reasoning. </a:t>
            </a:r>
            <a:r>
              <a:rPr lang="en-US" i="1" dirty="0">
                <a:solidFill>
                  <a:schemeClr val="tx2">
                    <a:lumMod val="75000"/>
                  </a:schemeClr>
                </a:solidFill>
              </a:rPr>
              <a:t>(Source: U.S. Bureau of Labor Statistics)</a:t>
            </a:r>
            <a:endParaRPr lang="en-US" altLang="en-US" sz="2400" i="1" dirty="0">
              <a:solidFill>
                <a:schemeClr val="tx2">
                  <a:lumMod val="75000"/>
                </a:schemeClr>
              </a:solidFill>
            </a:endParaRPr>
          </a:p>
        </p:txBody>
      </p:sp>
      <p:pic>
        <p:nvPicPr>
          <p:cNvPr id="6" name="Picture 5">
            <a:extLst>
              <a:ext uri="{FF2B5EF4-FFF2-40B4-BE49-F238E27FC236}">
                <a16:creationId xmlns:a16="http://schemas.microsoft.com/office/drawing/2014/main" id="{1043C479-9D30-4AC4-87BF-06882A7416FA}"/>
              </a:ext>
            </a:extLst>
          </p:cNvPr>
          <p:cNvPicPr>
            <a:picLocks noChangeAspect="1"/>
          </p:cNvPicPr>
          <p:nvPr/>
        </p:nvPicPr>
        <p:blipFill>
          <a:blip r:embed="rId3"/>
          <a:stretch>
            <a:fillRect/>
          </a:stretch>
        </p:blipFill>
        <p:spPr>
          <a:xfrm>
            <a:off x="619060" y="3255818"/>
            <a:ext cx="4615662" cy="2751513"/>
          </a:xfrm>
          <a:prstGeom prst="rect">
            <a:avLst/>
          </a:prstGeom>
        </p:spPr>
      </p:pic>
      <p:pic>
        <p:nvPicPr>
          <p:cNvPr id="9" name="Picture 8">
            <a:extLst>
              <a:ext uri="{FF2B5EF4-FFF2-40B4-BE49-F238E27FC236}">
                <a16:creationId xmlns:a16="http://schemas.microsoft.com/office/drawing/2014/main" id="{5ACD80EF-4531-4A19-B15B-2918922576A9}"/>
              </a:ext>
            </a:extLst>
          </p:cNvPr>
          <p:cNvPicPr>
            <a:picLocks noChangeAspect="1"/>
          </p:cNvPicPr>
          <p:nvPr/>
        </p:nvPicPr>
        <p:blipFill>
          <a:blip r:embed="rId4"/>
          <a:stretch>
            <a:fillRect/>
          </a:stretch>
        </p:blipFill>
        <p:spPr>
          <a:xfrm>
            <a:off x="5942215" y="3305374"/>
            <a:ext cx="2070016" cy="2395204"/>
          </a:xfrm>
          <a:prstGeom prst="rect">
            <a:avLst/>
          </a:prstGeom>
        </p:spPr>
      </p:pic>
    </p:spTree>
    <p:extLst>
      <p:ext uri="{BB962C8B-B14F-4D97-AF65-F5344CB8AC3E}">
        <p14:creationId xmlns:p14="http://schemas.microsoft.com/office/powerpoint/2010/main" val="1791657241"/>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AA66E-713F-4A98-8317-D8FE171FDA75}"/>
              </a:ext>
            </a:extLst>
          </p:cNvPr>
          <p:cNvSpPr>
            <a:spLocks noGrp="1"/>
          </p:cNvSpPr>
          <p:nvPr>
            <p:ph type="title"/>
          </p:nvPr>
        </p:nvSpPr>
        <p:spPr/>
        <p:txBody>
          <a:bodyPr/>
          <a:lstStyle/>
          <a:p>
            <a:pPr eaLnBrk="1" hangingPunct="1">
              <a:defRPr/>
            </a:pPr>
            <a:r>
              <a:rPr lang="en-US" dirty="0">
                <a:solidFill>
                  <a:schemeClr val="accent3"/>
                </a:solidFill>
              </a:rPr>
              <a:t>Solution: Classifying Data by Level</a:t>
            </a:r>
          </a:p>
        </p:txBody>
      </p:sp>
      <p:sp>
        <p:nvSpPr>
          <p:cNvPr id="25603" name="Content Placeholder 2">
            <a:extLst>
              <a:ext uri="{FF2B5EF4-FFF2-40B4-BE49-F238E27FC236}">
                <a16:creationId xmlns:a16="http://schemas.microsoft.com/office/drawing/2014/main" id="{00EC727B-5FAE-4340-A478-E3B740341E46}"/>
              </a:ext>
            </a:extLst>
          </p:cNvPr>
          <p:cNvSpPr>
            <a:spLocks noGrp="1"/>
          </p:cNvSpPr>
          <p:nvPr>
            <p:ph idx="1"/>
          </p:nvPr>
        </p:nvSpPr>
        <p:spPr>
          <a:xfrm>
            <a:off x="609600" y="3733800"/>
            <a:ext cx="4038600" cy="2286000"/>
          </a:xfrm>
        </p:spPr>
        <p:txBody>
          <a:bodyPr/>
          <a:lstStyle/>
          <a:p>
            <a:pPr marL="0" indent="0" eaLnBrk="1" hangingPunct="1">
              <a:buFont typeface="Arial" panose="020B0604020202020204" pitchFamily="34" charset="0"/>
              <a:buNone/>
            </a:pPr>
            <a:r>
              <a:rPr lang="en-US" altLang="en-US" b="1" dirty="0"/>
              <a:t>Ordinal</a:t>
            </a:r>
            <a:r>
              <a:rPr lang="en-US" altLang="en-US" dirty="0"/>
              <a:t> </a:t>
            </a:r>
            <a:r>
              <a:rPr lang="en-US" altLang="en-US" b="1" dirty="0"/>
              <a:t>level</a:t>
            </a:r>
            <a:r>
              <a:rPr lang="en-US" altLang="en-US" dirty="0"/>
              <a:t> (lists the rank of five largest job growth occupations. Data can be ordered. Difference between ranks is not meaningful.)</a:t>
            </a:r>
          </a:p>
        </p:txBody>
      </p:sp>
      <p:sp>
        <p:nvSpPr>
          <p:cNvPr id="25606" name="Content Placeholder 2">
            <a:extLst>
              <a:ext uri="{FF2B5EF4-FFF2-40B4-BE49-F238E27FC236}">
                <a16:creationId xmlns:a16="http://schemas.microsoft.com/office/drawing/2014/main" id="{9AB0D1E0-710D-411E-AD36-97462A937E8A}"/>
              </a:ext>
            </a:extLst>
          </p:cNvPr>
          <p:cNvSpPr txBox="1">
            <a:spLocks/>
          </p:cNvSpPr>
          <p:nvPr/>
        </p:nvSpPr>
        <p:spPr bwMode="auto">
          <a:xfrm>
            <a:off x="4649926" y="3904143"/>
            <a:ext cx="4038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b="1" dirty="0"/>
              <a:t>Nominal level </a:t>
            </a:r>
            <a:r>
              <a:rPr lang="en-US" altLang="en-US" dirty="0"/>
              <a:t>(lists movie genres).  No mathematical computations can be made and cannot be ranked.</a:t>
            </a:r>
          </a:p>
        </p:txBody>
      </p:sp>
      <p:cxnSp>
        <p:nvCxnSpPr>
          <p:cNvPr id="16" name="Straight Arrow Connector 15">
            <a:extLst>
              <a:ext uri="{FF2B5EF4-FFF2-40B4-BE49-F238E27FC236}">
                <a16:creationId xmlns:a16="http://schemas.microsoft.com/office/drawing/2014/main" id="{DBD58A8C-BA63-4752-B1FA-2272E3D55D2E}"/>
              </a:ext>
            </a:extLst>
          </p:cNvPr>
          <p:cNvCxnSpPr>
            <a:cxnSpLocks/>
          </p:cNvCxnSpPr>
          <p:nvPr/>
        </p:nvCxnSpPr>
        <p:spPr>
          <a:xfrm>
            <a:off x="2197539" y="3381925"/>
            <a:ext cx="1" cy="487572"/>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1B182B6-A3B9-46E1-BD5D-BBE8A304A518}"/>
              </a:ext>
            </a:extLst>
          </p:cNvPr>
          <p:cNvCxnSpPr>
            <a:cxnSpLocks/>
          </p:cNvCxnSpPr>
          <p:nvPr/>
        </p:nvCxnSpPr>
        <p:spPr>
          <a:xfrm flipH="1">
            <a:off x="6389274" y="3392000"/>
            <a:ext cx="1" cy="568325"/>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1F9C7B4-31B6-46AE-B721-431D02821D0C}"/>
              </a:ext>
            </a:extLst>
          </p:cNvPr>
          <p:cNvPicPr>
            <a:picLocks noChangeAspect="1"/>
          </p:cNvPicPr>
          <p:nvPr/>
        </p:nvPicPr>
        <p:blipFill>
          <a:blip r:embed="rId3"/>
          <a:stretch>
            <a:fillRect/>
          </a:stretch>
        </p:blipFill>
        <p:spPr>
          <a:xfrm>
            <a:off x="245806" y="1336920"/>
            <a:ext cx="3447559" cy="2055177"/>
          </a:xfrm>
          <a:prstGeom prst="rect">
            <a:avLst/>
          </a:prstGeom>
        </p:spPr>
      </p:pic>
      <p:pic>
        <p:nvPicPr>
          <p:cNvPr id="11" name="Picture 10">
            <a:extLst>
              <a:ext uri="{FF2B5EF4-FFF2-40B4-BE49-F238E27FC236}">
                <a16:creationId xmlns:a16="http://schemas.microsoft.com/office/drawing/2014/main" id="{A8D8F3DA-2EF6-4261-A951-445F50B752BC}"/>
              </a:ext>
            </a:extLst>
          </p:cNvPr>
          <p:cNvPicPr>
            <a:picLocks noChangeAspect="1"/>
          </p:cNvPicPr>
          <p:nvPr/>
        </p:nvPicPr>
        <p:blipFill>
          <a:blip r:embed="rId4" cstate="print"/>
          <a:stretch>
            <a:fillRect/>
          </a:stretch>
        </p:blipFill>
        <p:spPr>
          <a:xfrm>
            <a:off x="5447612" y="1361249"/>
            <a:ext cx="1884210" cy="2180209"/>
          </a:xfrm>
          <a:prstGeom prst="rect">
            <a:avLst/>
          </a:prstGeom>
        </p:spPr>
      </p:pic>
    </p:spTree>
    <p:extLst>
      <p:ext uri="{BB962C8B-B14F-4D97-AF65-F5344CB8AC3E}">
        <p14:creationId xmlns:p14="http://schemas.microsoft.com/office/powerpoint/2010/main" val="46376883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603">
                                            <p:txEl>
                                              <p:pRg st="0" end="0"/>
                                            </p:txEl>
                                          </p:spTgt>
                                        </p:tgtEl>
                                        <p:attrNameLst>
                                          <p:attrName>style.visibility</p:attrName>
                                        </p:attrNameLst>
                                      </p:cBhvr>
                                      <p:to>
                                        <p:strVal val="visible"/>
                                      </p:to>
                                    </p:set>
                                    <p:animEffect transition="in" filter="fade">
                                      <p:cBhvr>
                                        <p:cTn id="11" dur="500"/>
                                        <p:tgtEl>
                                          <p:spTgt spid="2560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5606"/>
                                        </p:tgtEl>
                                        <p:attrNameLst>
                                          <p:attrName>style.visibility</p:attrName>
                                        </p:attrNameLst>
                                      </p:cBhvr>
                                      <p:to>
                                        <p:strVal val="visible"/>
                                      </p:to>
                                    </p:set>
                                    <p:animEffect transition="in" filter="fade">
                                      <p:cBhvr>
                                        <p:cTn id="20" dur="500"/>
                                        <p:tgtEl>
                                          <p:spTgt spid="25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560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a:extLst>
              <a:ext uri="{FF2B5EF4-FFF2-40B4-BE49-F238E27FC236}">
                <a16:creationId xmlns:a16="http://schemas.microsoft.com/office/drawing/2014/main" id="{CE94C0EB-9253-4DD6-A43D-E320294872BA}"/>
              </a:ext>
            </a:extLst>
          </p:cNvPr>
          <p:cNvSpPr>
            <a:spLocks noGrp="1"/>
          </p:cNvSpPr>
          <p:nvPr>
            <p:ph type="title"/>
          </p:nvPr>
        </p:nvSpPr>
        <p:spPr/>
        <p:txBody>
          <a:bodyPr/>
          <a:lstStyle/>
          <a:p>
            <a:pPr eaLnBrk="1" hangingPunct="1"/>
            <a:r>
              <a:rPr lang="en-US" altLang="en-US"/>
              <a:t>Levels of Measurement</a:t>
            </a:r>
          </a:p>
        </p:txBody>
      </p:sp>
      <p:sp>
        <p:nvSpPr>
          <p:cNvPr id="13315" name="Content Placeholder 3">
            <a:extLst>
              <a:ext uri="{FF2B5EF4-FFF2-40B4-BE49-F238E27FC236}">
                <a16:creationId xmlns:a16="http://schemas.microsoft.com/office/drawing/2014/main" id="{CC291A7F-1E09-4BC1-8CF3-C2C1F8818B33}"/>
              </a:ext>
            </a:extLst>
          </p:cNvPr>
          <p:cNvSpPr>
            <a:spLocks noGrp="1"/>
          </p:cNvSpPr>
          <p:nvPr>
            <p:ph idx="1"/>
          </p:nvPr>
        </p:nvSpPr>
        <p:spPr>
          <a:xfrm>
            <a:off x="457200" y="1473200"/>
            <a:ext cx="8229600" cy="3028950"/>
          </a:xfrm>
        </p:spPr>
        <p:txBody>
          <a:bodyPr/>
          <a:lstStyle/>
          <a:p>
            <a:pPr eaLnBrk="1" hangingPunct="1">
              <a:buFont typeface="Arial" panose="020B0604020202020204" pitchFamily="34" charset="0"/>
              <a:buNone/>
            </a:pPr>
            <a:r>
              <a:rPr lang="en-US" altLang="en-US" b="1">
                <a:solidFill>
                  <a:schemeClr val="accent2"/>
                </a:solidFill>
              </a:rPr>
              <a:t>Interval level of measurement</a:t>
            </a:r>
          </a:p>
          <a:p>
            <a:pPr eaLnBrk="1" hangingPunct="1"/>
            <a:r>
              <a:rPr lang="en-US" altLang="en-US"/>
              <a:t>Quantitative data</a:t>
            </a:r>
          </a:p>
          <a:p>
            <a:pPr eaLnBrk="1" hangingPunct="1"/>
            <a:r>
              <a:rPr lang="en-US" altLang="en-US"/>
              <a:t>Data can ordered</a:t>
            </a:r>
          </a:p>
          <a:p>
            <a:pPr eaLnBrk="1" hangingPunct="1"/>
            <a:r>
              <a:rPr lang="en-US" altLang="en-US"/>
              <a:t>Differences between data entries is meaningful</a:t>
            </a:r>
          </a:p>
          <a:p>
            <a:pPr eaLnBrk="1" hangingPunct="1"/>
            <a:r>
              <a:rPr lang="en-US" altLang="en-US"/>
              <a:t>Zero represents a position on a scale (not an inherent zero – zero does not imply “none”)</a:t>
            </a:r>
          </a:p>
        </p:txBody>
      </p:sp>
    </p:spTree>
    <p:extLst>
      <p:ext uri="{BB962C8B-B14F-4D97-AF65-F5344CB8AC3E}">
        <p14:creationId xmlns:p14="http://schemas.microsoft.com/office/powerpoint/2010/main" val="1970162965"/>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a:extLst>
              <a:ext uri="{FF2B5EF4-FFF2-40B4-BE49-F238E27FC236}">
                <a16:creationId xmlns:a16="http://schemas.microsoft.com/office/drawing/2014/main" id="{A44A96A7-52EA-454A-82F9-2FC20A4011B3}"/>
              </a:ext>
            </a:extLst>
          </p:cNvPr>
          <p:cNvSpPr>
            <a:spLocks noGrp="1"/>
          </p:cNvSpPr>
          <p:nvPr>
            <p:ph type="title"/>
          </p:nvPr>
        </p:nvSpPr>
        <p:spPr/>
        <p:txBody>
          <a:bodyPr/>
          <a:lstStyle/>
          <a:p>
            <a:pPr eaLnBrk="1" hangingPunct="1"/>
            <a:r>
              <a:rPr lang="en-US" altLang="en-US"/>
              <a:t>Levels of Measurement</a:t>
            </a:r>
          </a:p>
        </p:txBody>
      </p:sp>
      <p:sp>
        <p:nvSpPr>
          <p:cNvPr id="14339" name="Content Placeholder 3">
            <a:extLst>
              <a:ext uri="{FF2B5EF4-FFF2-40B4-BE49-F238E27FC236}">
                <a16:creationId xmlns:a16="http://schemas.microsoft.com/office/drawing/2014/main" id="{C380F962-F2B6-4941-AFCF-1D97A04DBE04}"/>
              </a:ext>
            </a:extLst>
          </p:cNvPr>
          <p:cNvSpPr>
            <a:spLocks noGrp="1"/>
          </p:cNvSpPr>
          <p:nvPr>
            <p:ph idx="1"/>
          </p:nvPr>
        </p:nvSpPr>
        <p:spPr>
          <a:xfrm>
            <a:off x="457200" y="1471613"/>
            <a:ext cx="8229600" cy="3028950"/>
          </a:xfrm>
        </p:spPr>
        <p:txBody>
          <a:bodyPr/>
          <a:lstStyle/>
          <a:p>
            <a:pPr eaLnBrk="1" hangingPunct="1">
              <a:buFont typeface="Arial" panose="020B0604020202020204" pitchFamily="34" charset="0"/>
              <a:buNone/>
            </a:pPr>
            <a:r>
              <a:rPr lang="en-US" altLang="en-US" b="1">
                <a:solidFill>
                  <a:schemeClr val="accent2"/>
                </a:solidFill>
              </a:rPr>
              <a:t>Ratio level of measurement</a:t>
            </a:r>
          </a:p>
          <a:p>
            <a:pPr eaLnBrk="1" hangingPunct="1"/>
            <a:r>
              <a:rPr lang="en-US" altLang="en-US"/>
              <a:t>Similar to interval level</a:t>
            </a:r>
          </a:p>
          <a:p>
            <a:pPr eaLnBrk="1" hangingPunct="1"/>
            <a:r>
              <a:rPr lang="en-US" altLang="en-US"/>
              <a:t>Zero entry is an inherent zero (implies “none”)</a:t>
            </a:r>
          </a:p>
          <a:p>
            <a:pPr eaLnBrk="1" hangingPunct="1"/>
            <a:r>
              <a:rPr lang="en-US" altLang="en-US"/>
              <a:t>A ratio of two data values can be formed </a:t>
            </a:r>
          </a:p>
          <a:p>
            <a:pPr eaLnBrk="1" hangingPunct="1"/>
            <a:r>
              <a:rPr lang="en-US" altLang="en-US"/>
              <a:t>One data value can be expressed as a multiple of another</a:t>
            </a:r>
          </a:p>
        </p:txBody>
      </p:sp>
    </p:spTree>
    <p:extLst>
      <p:ext uri="{BB962C8B-B14F-4D97-AF65-F5344CB8AC3E}">
        <p14:creationId xmlns:p14="http://schemas.microsoft.com/office/powerpoint/2010/main" val="1420953204"/>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1190-93D9-4BE2-83AA-8D642B86480B}"/>
              </a:ext>
            </a:extLst>
          </p:cNvPr>
          <p:cNvSpPr>
            <a:spLocks noGrp="1"/>
          </p:cNvSpPr>
          <p:nvPr>
            <p:ph type="title"/>
          </p:nvPr>
        </p:nvSpPr>
        <p:spPr/>
        <p:txBody>
          <a:bodyPr/>
          <a:lstStyle/>
          <a:p>
            <a:pPr eaLnBrk="1" hangingPunct="1">
              <a:defRPr/>
            </a:pPr>
            <a:r>
              <a:rPr lang="en-US" dirty="0">
                <a:solidFill>
                  <a:schemeClr val="accent3"/>
                </a:solidFill>
              </a:rPr>
              <a:t>Example: Classifying Data by Level</a:t>
            </a:r>
          </a:p>
        </p:txBody>
      </p:sp>
      <p:sp>
        <p:nvSpPr>
          <p:cNvPr id="15363" name="Content Placeholder 2">
            <a:extLst>
              <a:ext uri="{FF2B5EF4-FFF2-40B4-BE49-F238E27FC236}">
                <a16:creationId xmlns:a16="http://schemas.microsoft.com/office/drawing/2014/main" id="{D40E1447-7EEA-4975-89C5-4EAEDA3F21ED}"/>
              </a:ext>
            </a:extLst>
          </p:cNvPr>
          <p:cNvSpPr>
            <a:spLocks noGrp="1"/>
          </p:cNvSpPr>
          <p:nvPr>
            <p:ph idx="1"/>
          </p:nvPr>
        </p:nvSpPr>
        <p:spPr>
          <a:xfrm>
            <a:off x="520700" y="1312863"/>
            <a:ext cx="8229600" cy="1600200"/>
          </a:xfrm>
        </p:spPr>
        <p:txBody>
          <a:bodyPr/>
          <a:lstStyle/>
          <a:p>
            <a:pPr marL="0" indent="0" eaLnBrk="1" hangingPunct="1">
              <a:buFont typeface="Arial" panose="020B0604020202020204" pitchFamily="34" charset="0"/>
              <a:buNone/>
            </a:pPr>
            <a:r>
              <a:rPr lang="en-US" altLang="en-US" dirty="0"/>
              <a:t>Two data sets are shown. Which data set consists of data at the interval level? Which data set consists of data at the ratio level?</a:t>
            </a:r>
            <a:r>
              <a:rPr lang="en-US" altLang="en-US" i="1" dirty="0">
                <a:solidFill>
                  <a:schemeClr val="tx2"/>
                </a:solidFill>
              </a:rPr>
              <a:t> </a:t>
            </a:r>
            <a:br>
              <a:rPr lang="en-US" altLang="en-US" i="1" dirty="0">
                <a:solidFill>
                  <a:schemeClr val="tx2"/>
                </a:solidFill>
              </a:rPr>
            </a:br>
            <a:r>
              <a:rPr lang="en-US" altLang="en-US" sz="2400" i="1" dirty="0">
                <a:solidFill>
                  <a:schemeClr val="tx2"/>
                </a:solidFill>
              </a:rPr>
              <a:t>(Source: Major League Baseball)</a:t>
            </a:r>
          </a:p>
        </p:txBody>
      </p:sp>
      <p:pic>
        <p:nvPicPr>
          <p:cNvPr id="6" name="Picture 5" descr="A screenshot of a cell phone&#10;&#10;Description generated with very high confidence">
            <a:extLst>
              <a:ext uri="{FF2B5EF4-FFF2-40B4-BE49-F238E27FC236}">
                <a16:creationId xmlns:a16="http://schemas.microsoft.com/office/drawing/2014/main" id="{B3CDF4D4-8EE4-44D6-B34B-75F311A63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057" y="3267325"/>
            <a:ext cx="3483871" cy="2702057"/>
          </a:xfrm>
          <a:prstGeom prst="rect">
            <a:avLst/>
          </a:prstGeom>
        </p:spPr>
      </p:pic>
      <p:pic>
        <p:nvPicPr>
          <p:cNvPr id="4" name="Picture 3">
            <a:extLst>
              <a:ext uri="{FF2B5EF4-FFF2-40B4-BE49-F238E27FC236}">
                <a16:creationId xmlns:a16="http://schemas.microsoft.com/office/drawing/2014/main" id="{5F507B9E-F599-407C-92E3-C06C70FDAA7A}"/>
              </a:ext>
            </a:extLst>
          </p:cNvPr>
          <p:cNvPicPr>
            <a:picLocks noChangeAspect="1"/>
          </p:cNvPicPr>
          <p:nvPr/>
        </p:nvPicPr>
        <p:blipFill>
          <a:blip r:embed="rId4"/>
          <a:stretch>
            <a:fillRect/>
          </a:stretch>
        </p:blipFill>
        <p:spPr>
          <a:xfrm>
            <a:off x="5763143" y="2319879"/>
            <a:ext cx="1885037" cy="3949383"/>
          </a:xfrm>
          <a:prstGeom prst="rect">
            <a:avLst/>
          </a:prstGeom>
          <a:ln w="12700">
            <a:solidFill>
              <a:schemeClr val="tx1"/>
            </a:solidFill>
          </a:ln>
        </p:spPr>
      </p:pic>
    </p:spTree>
    <p:extLst>
      <p:ext uri="{BB962C8B-B14F-4D97-AF65-F5344CB8AC3E}">
        <p14:creationId xmlns:p14="http://schemas.microsoft.com/office/powerpoint/2010/main" val="630963246"/>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46EA-DAD8-48F2-BC9E-5138AEEF3BF3}"/>
              </a:ext>
            </a:extLst>
          </p:cNvPr>
          <p:cNvSpPr>
            <a:spLocks noGrp="1"/>
          </p:cNvSpPr>
          <p:nvPr>
            <p:ph type="title"/>
          </p:nvPr>
        </p:nvSpPr>
        <p:spPr/>
        <p:txBody>
          <a:bodyPr/>
          <a:lstStyle/>
          <a:p>
            <a:pPr eaLnBrk="1" hangingPunct="1">
              <a:defRPr/>
            </a:pPr>
            <a:r>
              <a:rPr lang="en-US" dirty="0">
                <a:solidFill>
                  <a:schemeClr val="accent3"/>
                </a:solidFill>
              </a:rPr>
              <a:t>Solution: Classifying Data by Level</a:t>
            </a:r>
          </a:p>
        </p:txBody>
      </p:sp>
      <p:sp>
        <p:nvSpPr>
          <p:cNvPr id="29700" name="Content Placeholder 2">
            <a:extLst>
              <a:ext uri="{FF2B5EF4-FFF2-40B4-BE49-F238E27FC236}">
                <a16:creationId xmlns:a16="http://schemas.microsoft.com/office/drawing/2014/main" id="{01A0699C-20F1-4AFF-A9B4-9668B87C5C03}"/>
              </a:ext>
            </a:extLst>
          </p:cNvPr>
          <p:cNvSpPr>
            <a:spLocks noGrp="1"/>
          </p:cNvSpPr>
          <p:nvPr>
            <p:ph idx="1"/>
          </p:nvPr>
        </p:nvSpPr>
        <p:spPr>
          <a:xfrm>
            <a:off x="384175" y="3409950"/>
            <a:ext cx="4046538" cy="1865313"/>
          </a:xfrm>
        </p:spPr>
        <p:txBody>
          <a:bodyPr/>
          <a:lstStyle/>
          <a:p>
            <a:pPr marL="0" indent="0" eaLnBrk="1" hangingPunct="1">
              <a:buFont typeface="Arial" panose="020B0604020202020204" pitchFamily="34" charset="0"/>
              <a:buNone/>
            </a:pPr>
            <a:r>
              <a:rPr lang="en-US" altLang="en-US" b="1" dirty="0"/>
              <a:t>Interval level </a:t>
            </a:r>
            <a:r>
              <a:rPr lang="en-US" altLang="en-US" dirty="0"/>
              <a:t>(Quantitative data. Can find a difference between two dates, but a ratio does not make sense.)</a:t>
            </a:r>
          </a:p>
        </p:txBody>
      </p:sp>
      <p:sp>
        <p:nvSpPr>
          <p:cNvPr id="29701" name="Content Placeholder 2">
            <a:extLst>
              <a:ext uri="{FF2B5EF4-FFF2-40B4-BE49-F238E27FC236}">
                <a16:creationId xmlns:a16="http://schemas.microsoft.com/office/drawing/2014/main" id="{3814BDE1-8010-469A-AC3D-8EC6C0D13529}"/>
              </a:ext>
            </a:extLst>
          </p:cNvPr>
          <p:cNvSpPr txBox="1">
            <a:spLocks/>
          </p:cNvSpPr>
          <p:nvPr/>
        </p:nvSpPr>
        <p:spPr bwMode="auto">
          <a:xfrm>
            <a:off x="4681538" y="5022850"/>
            <a:ext cx="422275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9pPr>
          </a:lstStyle>
          <a:p>
            <a:pPr eaLnBrk="1" hangingPunct="1">
              <a:buFont typeface="Arial" panose="020B0604020202020204" pitchFamily="34" charset="0"/>
              <a:buNone/>
            </a:pPr>
            <a:r>
              <a:rPr lang="en-US" altLang="en-US" b="1" dirty="0"/>
              <a:t>Ratio level </a:t>
            </a:r>
            <a:r>
              <a:rPr lang="en-US" altLang="en-US" dirty="0"/>
              <a:t>(Can find differences and write ratios.)</a:t>
            </a:r>
          </a:p>
        </p:txBody>
      </p:sp>
      <p:cxnSp>
        <p:nvCxnSpPr>
          <p:cNvPr id="9" name="Straight Arrow Connector 8">
            <a:extLst>
              <a:ext uri="{FF2B5EF4-FFF2-40B4-BE49-F238E27FC236}">
                <a16:creationId xmlns:a16="http://schemas.microsoft.com/office/drawing/2014/main" id="{BB61FC78-FD16-4E9D-8F22-A303C7BA706F}"/>
              </a:ext>
            </a:extLst>
          </p:cNvPr>
          <p:cNvCxnSpPr/>
          <p:nvPr/>
        </p:nvCxnSpPr>
        <p:spPr>
          <a:xfrm rot="5400000">
            <a:off x="6323352" y="4871244"/>
            <a:ext cx="358775" cy="7938"/>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D8B7121-7933-463E-88CF-D5957CF6B0E5}"/>
              </a:ext>
            </a:extLst>
          </p:cNvPr>
          <p:cNvCxnSpPr/>
          <p:nvPr/>
        </p:nvCxnSpPr>
        <p:spPr>
          <a:xfrm rot="5400000">
            <a:off x="2034381" y="3277849"/>
            <a:ext cx="358775" cy="7938"/>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pic>
        <p:nvPicPr>
          <p:cNvPr id="13" name="Picture 12" descr="A screenshot of a cell phone&#10;&#10;Description generated with very high confidence">
            <a:extLst>
              <a:ext uri="{FF2B5EF4-FFF2-40B4-BE49-F238E27FC236}">
                <a16:creationId xmlns:a16="http://schemas.microsoft.com/office/drawing/2014/main" id="{C390EF9A-1E3E-4AF6-B1D9-7E68D9439C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1001" y="888595"/>
            <a:ext cx="2914572" cy="2260514"/>
          </a:xfrm>
          <a:prstGeom prst="rect">
            <a:avLst/>
          </a:prstGeom>
        </p:spPr>
      </p:pic>
      <p:pic>
        <p:nvPicPr>
          <p:cNvPr id="11" name="Picture 10">
            <a:extLst>
              <a:ext uri="{FF2B5EF4-FFF2-40B4-BE49-F238E27FC236}">
                <a16:creationId xmlns:a16="http://schemas.microsoft.com/office/drawing/2014/main" id="{3A061ED7-AC03-4BFD-B027-3EC08D829E8A}"/>
              </a:ext>
            </a:extLst>
          </p:cNvPr>
          <p:cNvPicPr>
            <a:picLocks noChangeAspect="1"/>
          </p:cNvPicPr>
          <p:nvPr/>
        </p:nvPicPr>
        <p:blipFill>
          <a:blip r:embed="rId4"/>
          <a:stretch>
            <a:fillRect/>
          </a:stretch>
        </p:blipFill>
        <p:spPr>
          <a:xfrm>
            <a:off x="5603124" y="1011965"/>
            <a:ext cx="1734618" cy="3634237"/>
          </a:xfrm>
          <a:prstGeom prst="rect">
            <a:avLst/>
          </a:prstGeom>
          <a:ln w="12700">
            <a:solidFill>
              <a:schemeClr val="tx1"/>
            </a:solidFill>
          </a:ln>
        </p:spPr>
      </p:pic>
    </p:spTree>
    <p:extLst>
      <p:ext uri="{BB962C8B-B14F-4D97-AF65-F5344CB8AC3E}">
        <p14:creationId xmlns:p14="http://schemas.microsoft.com/office/powerpoint/2010/main" val="105447741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9700">
                                            <p:txEl>
                                              <p:pRg st="0" end="0"/>
                                            </p:txEl>
                                          </p:spTgt>
                                        </p:tgtEl>
                                        <p:attrNameLst>
                                          <p:attrName>style.visibility</p:attrName>
                                        </p:attrNameLst>
                                      </p:cBhvr>
                                      <p:to>
                                        <p:strVal val="visible"/>
                                      </p:to>
                                    </p:set>
                                    <p:animEffect transition="in" filter="fade">
                                      <p:cBhvr>
                                        <p:cTn id="11" dur="500"/>
                                        <p:tgtEl>
                                          <p:spTgt spid="2970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701"/>
                                        </p:tgtEl>
                                        <p:attrNameLst>
                                          <p:attrName>style.visibility</p:attrName>
                                        </p:attrNameLst>
                                      </p:cBhvr>
                                      <p:to>
                                        <p:strVal val="visible"/>
                                      </p:to>
                                    </p:set>
                                    <p:animEffect transition="in" filter="fade">
                                      <p:cBhvr>
                                        <p:cTn id="20" dur="5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P spid="2970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167C3F-D83C-A800-F0E5-B587730F10F8}"/>
              </a:ext>
            </a:extLst>
          </p:cNvPr>
          <p:cNvSpPr>
            <a:spLocks noGrp="1"/>
          </p:cNvSpPr>
          <p:nvPr>
            <p:ph idx="1"/>
          </p:nvPr>
        </p:nvSpPr>
        <p:spPr/>
        <p:txBody>
          <a:bodyPr/>
          <a:lstStyle/>
          <a:p>
            <a:r>
              <a:rPr lang="en-US" dirty="0"/>
              <a:t>Both of these data sets contain quantitative data. Consider the dates  of the Yankees’ World Series Victories. It makes sense to find differences between specific dates. For instance, the time between the Yankees’ first and last World Series victories is</a:t>
            </a:r>
          </a:p>
          <a:p>
            <a:pPr marL="0" indent="0" algn="ctr">
              <a:buNone/>
            </a:pPr>
            <a:r>
              <a:rPr lang="en-US" dirty="0"/>
              <a:t>2009 </a:t>
            </a:r>
            <a:r>
              <a:rPr lang="en-US" dirty="0">
                <a:sym typeface="Symbol" panose="05050102010706020507" pitchFamily="18" charset="2"/>
              </a:rPr>
              <a:t> 1923  86 years.</a:t>
            </a:r>
          </a:p>
          <a:p>
            <a:r>
              <a:rPr lang="en-US" dirty="0">
                <a:sym typeface="Symbol" panose="05050102010706020507" pitchFamily="18" charset="2"/>
              </a:rPr>
              <a:t>But it does not make sense to say that one year is a multiple of another. So, these data are the interval level.</a:t>
            </a:r>
            <a:endParaRPr lang="en-US" dirty="0"/>
          </a:p>
          <a:p>
            <a:endParaRPr lang="en-US" dirty="0"/>
          </a:p>
        </p:txBody>
      </p:sp>
      <p:sp>
        <p:nvSpPr>
          <p:cNvPr id="4" name="Title 1">
            <a:extLst>
              <a:ext uri="{FF2B5EF4-FFF2-40B4-BE49-F238E27FC236}">
                <a16:creationId xmlns:a16="http://schemas.microsoft.com/office/drawing/2014/main" id="{54C2F263-F39C-419B-46D4-7CD88EA6E05D}"/>
              </a:ext>
            </a:extLst>
          </p:cNvPr>
          <p:cNvSpPr>
            <a:spLocks noGrp="1"/>
          </p:cNvSpPr>
          <p:nvPr>
            <p:ph type="title"/>
          </p:nvPr>
        </p:nvSpPr>
        <p:spPr>
          <a:xfrm>
            <a:off x="457200" y="274638"/>
            <a:ext cx="8229600" cy="1143000"/>
          </a:xfrm>
        </p:spPr>
        <p:txBody>
          <a:bodyPr/>
          <a:lstStyle/>
          <a:p>
            <a:pPr eaLnBrk="1" hangingPunct="1">
              <a:defRPr/>
            </a:pPr>
            <a:r>
              <a:rPr lang="en-US" dirty="0">
                <a:solidFill>
                  <a:schemeClr val="accent3"/>
                </a:solidFill>
              </a:rPr>
              <a:t>Solution: Classifying Data by Level</a:t>
            </a:r>
          </a:p>
        </p:txBody>
      </p:sp>
    </p:spTree>
    <p:extLst>
      <p:ext uri="{BB962C8B-B14F-4D97-AF65-F5344CB8AC3E}">
        <p14:creationId xmlns:p14="http://schemas.microsoft.com/office/powerpoint/2010/main" val="2624847973"/>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1D1BE-A044-E78D-66A5-63F09E0D4B4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156288F-22A3-CD78-1453-B50CCD69D424}"/>
                  </a:ext>
                </a:extLst>
              </p:cNvPr>
              <p:cNvSpPr>
                <a:spLocks noGrp="1"/>
              </p:cNvSpPr>
              <p:nvPr>
                <p:ph idx="1"/>
              </p:nvPr>
            </p:nvSpPr>
            <p:spPr/>
            <p:txBody>
              <a:bodyPr/>
              <a:lstStyle/>
              <a:p>
                <a:r>
                  <a:rPr lang="en-US" dirty="0"/>
                  <a:t>Using the home run totals, you can find differences and write ratios.</a:t>
                </a:r>
              </a:p>
              <a:p>
                <a:r>
                  <a:rPr lang="en-US" dirty="0"/>
                  <a:t>For instance, Boston hit 22 more runs than Cleveland hit because 81 </a:t>
                </a:r>
                <a:r>
                  <a:rPr lang="en-US" dirty="0">
                    <a:sym typeface="Symbol" panose="05050102010706020507" pitchFamily="18" charset="2"/>
                  </a:rPr>
                  <a:t> 59  22 home runs.</a:t>
                </a:r>
              </a:p>
              <a:p>
                <a:r>
                  <a:rPr lang="en-US" dirty="0">
                    <a:sym typeface="Symbol" panose="05050102010706020507" pitchFamily="18" charset="2"/>
                  </a:rPr>
                  <a:t>Also, Chicago hit about 1.25 times as many home runs as Baltimore hit because</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sym typeface="Symbol" panose="05050102010706020507" pitchFamily="18" charset="2"/>
                            </a:rPr>
                          </m:ctrlPr>
                        </m:fPr>
                        <m:num>
                          <m:r>
                            <a:rPr lang="en-US" b="0" i="1" smtClean="0">
                              <a:latin typeface="Cambria Math" panose="02040503050406030204" pitchFamily="18" charset="0"/>
                              <a:sym typeface="Symbol" panose="05050102010706020507" pitchFamily="18" charset="2"/>
                            </a:rPr>
                            <m:t>96</m:t>
                          </m:r>
                        </m:num>
                        <m:den>
                          <m:r>
                            <a:rPr lang="en-US" b="0" i="1" smtClean="0">
                              <a:latin typeface="Cambria Math" panose="02040503050406030204" pitchFamily="18" charset="0"/>
                              <a:sym typeface="Symbol" panose="05050102010706020507" pitchFamily="18" charset="2"/>
                            </a:rPr>
                            <m:t>77</m:t>
                          </m:r>
                        </m:den>
                      </m:f>
                      <m:r>
                        <a:rPr lang="en-US" i="1" smtClean="0">
                          <a:latin typeface="Cambria Math" panose="02040503050406030204" pitchFamily="18" charset="0"/>
                          <a:ea typeface="Cambria Math" panose="02040503050406030204" pitchFamily="18" charset="0"/>
                          <a:sym typeface="Symbol" panose="05050102010706020507" pitchFamily="18" charset="2"/>
                        </a:rPr>
                        <m:t>≈</m:t>
                      </m:r>
                      <m:r>
                        <a:rPr lang="en-US" b="0" i="1" smtClean="0">
                          <a:latin typeface="Cambria Math" panose="02040503050406030204" pitchFamily="18" charset="0"/>
                          <a:ea typeface="Cambria Math" panose="02040503050406030204" pitchFamily="18" charset="0"/>
                          <a:sym typeface="Symbol" panose="05050102010706020507" pitchFamily="18" charset="2"/>
                        </a:rPr>
                        <m:t>1.25</m:t>
                      </m:r>
                    </m:oMath>
                  </m:oMathPara>
                </a14:m>
                <a:endParaRPr lang="en-US" dirty="0">
                  <a:sym typeface="Symbol" panose="05050102010706020507" pitchFamily="18" charset="2"/>
                </a:endParaRPr>
              </a:p>
              <a:p>
                <a:r>
                  <a:rPr lang="en-US" dirty="0">
                    <a:sym typeface="Symbol" panose="05050102010706020507" pitchFamily="18" charset="2"/>
                  </a:rPr>
                  <a:t>So, these data are at the ratio level.</a:t>
                </a:r>
                <a:endParaRPr lang="en-US" dirty="0"/>
              </a:p>
              <a:p>
                <a:endParaRPr lang="en-US" dirty="0"/>
              </a:p>
            </p:txBody>
          </p:sp>
        </mc:Choice>
        <mc:Fallback xmlns="">
          <p:sp>
            <p:nvSpPr>
              <p:cNvPr id="2" name="Content Placeholder 1">
                <a:extLst>
                  <a:ext uri="{FF2B5EF4-FFF2-40B4-BE49-F238E27FC236}">
                    <a16:creationId xmlns:a16="http://schemas.microsoft.com/office/drawing/2014/main" id="{E156288F-22A3-CD78-1453-B50CCD69D424}"/>
                  </a:ext>
                </a:extLst>
              </p:cNvPr>
              <p:cNvSpPr>
                <a:spLocks noGrp="1" noRot="1" noChangeAspect="1" noMove="1" noResize="1" noEditPoints="1" noAdjustHandles="1" noChangeArrowheads="1" noChangeShapeType="1" noTextEdit="1"/>
              </p:cNvSpPr>
              <p:nvPr>
                <p:ph idx="1"/>
              </p:nvPr>
            </p:nvSpPr>
            <p:spPr>
              <a:blipFill>
                <a:blip r:embed="rId2"/>
                <a:stretch>
                  <a:fillRect l="-1333" t="-1482" r="-1111"/>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E3DDE638-FA92-2CE1-6860-D2AAEBD8C20F}"/>
              </a:ext>
            </a:extLst>
          </p:cNvPr>
          <p:cNvSpPr>
            <a:spLocks noGrp="1"/>
          </p:cNvSpPr>
          <p:nvPr>
            <p:ph type="title"/>
          </p:nvPr>
        </p:nvSpPr>
        <p:spPr>
          <a:xfrm>
            <a:off x="457200" y="274638"/>
            <a:ext cx="8229600" cy="1143000"/>
          </a:xfrm>
        </p:spPr>
        <p:txBody>
          <a:bodyPr/>
          <a:lstStyle/>
          <a:p>
            <a:pPr eaLnBrk="1" hangingPunct="1">
              <a:defRPr/>
            </a:pPr>
            <a:r>
              <a:rPr lang="en-US" dirty="0">
                <a:solidFill>
                  <a:schemeClr val="accent3"/>
                </a:solidFill>
              </a:rPr>
              <a:t>Solution: Classifying Data by Level</a:t>
            </a:r>
          </a:p>
        </p:txBody>
      </p:sp>
    </p:spTree>
    <p:extLst>
      <p:ext uri="{BB962C8B-B14F-4D97-AF65-F5344CB8AC3E}">
        <p14:creationId xmlns:p14="http://schemas.microsoft.com/office/powerpoint/2010/main" val="151663083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D8C22B3-1B6B-4388-97BD-BC5AECB6F4E7}"/>
              </a:ext>
            </a:extLst>
          </p:cNvPr>
          <p:cNvSpPr>
            <a:spLocks noGrp="1"/>
          </p:cNvSpPr>
          <p:nvPr>
            <p:ph type="title"/>
          </p:nvPr>
        </p:nvSpPr>
        <p:spPr/>
        <p:txBody>
          <a:bodyPr/>
          <a:lstStyle/>
          <a:p>
            <a:pPr eaLnBrk="1" hangingPunct="1"/>
            <a:r>
              <a:rPr lang="en-US" altLang="en-US"/>
              <a:t>Summary of Four Levels of Measurement</a:t>
            </a:r>
          </a:p>
        </p:txBody>
      </p:sp>
      <p:graphicFrame>
        <p:nvGraphicFramePr>
          <p:cNvPr id="6" name="Table 5">
            <a:extLst>
              <a:ext uri="{FF2B5EF4-FFF2-40B4-BE49-F238E27FC236}">
                <a16:creationId xmlns:a16="http://schemas.microsoft.com/office/drawing/2014/main" id="{56597443-33D0-4663-86D4-522A52E93A30}"/>
              </a:ext>
            </a:extLst>
          </p:cNvPr>
          <p:cNvGraphicFramePr>
            <a:graphicFrameLocks noGrp="1"/>
          </p:cNvGraphicFramePr>
          <p:nvPr>
            <p:extLst>
              <p:ext uri="{D42A27DB-BD31-4B8C-83A1-F6EECF244321}">
                <p14:modId xmlns:p14="http://schemas.microsoft.com/office/powerpoint/2010/main" val="1041691367"/>
              </p:ext>
            </p:extLst>
          </p:nvPr>
        </p:nvGraphicFramePr>
        <p:xfrm>
          <a:off x="638175" y="1706563"/>
          <a:ext cx="7921625" cy="2590800"/>
        </p:xfrm>
        <a:graphic>
          <a:graphicData uri="http://schemas.openxmlformats.org/drawingml/2006/table">
            <a:tbl>
              <a:tblPr firstRow="1" bandRow="1">
                <a:tableStyleId>{5940675A-B579-460E-94D1-54222C63F5DA}</a:tableStyleId>
              </a:tblPr>
              <a:tblGrid>
                <a:gridCol w="1611067">
                  <a:extLst>
                    <a:ext uri="{9D8B030D-6E8A-4147-A177-3AD203B41FA5}">
                      <a16:colId xmlns:a16="http://schemas.microsoft.com/office/drawing/2014/main" val="20000"/>
                    </a:ext>
                  </a:extLst>
                </a:gridCol>
                <a:gridCol w="1258355">
                  <a:extLst>
                    <a:ext uri="{9D8B030D-6E8A-4147-A177-3AD203B41FA5}">
                      <a16:colId xmlns:a16="http://schemas.microsoft.com/office/drawing/2014/main" val="20001"/>
                    </a:ext>
                  </a:extLst>
                </a:gridCol>
                <a:gridCol w="1434711">
                  <a:extLst>
                    <a:ext uri="{9D8B030D-6E8A-4147-A177-3AD203B41FA5}">
                      <a16:colId xmlns:a16="http://schemas.microsoft.com/office/drawing/2014/main" val="20002"/>
                    </a:ext>
                  </a:extLst>
                </a:gridCol>
                <a:gridCol w="1434711">
                  <a:extLst>
                    <a:ext uri="{9D8B030D-6E8A-4147-A177-3AD203B41FA5}">
                      <a16:colId xmlns:a16="http://schemas.microsoft.com/office/drawing/2014/main" val="20003"/>
                    </a:ext>
                  </a:extLst>
                </a:gridCol>
                <a:gridCol w="2182781">
                  <a:extLst>
                    <a:ext uri="{9D8B030D-6E8A-4147-A177-3AD203B41FA5}">
                      <a16:colId xmlns:a16="http://schemas.microsoft.com/office/drawing/2014/main" val="20004"/>
                    </a:ext>
                  </a:extLst>
                </a:gridCol>
              </a:tblGrid>
              <a:tr h="370840">
                <a:tc>
                  <a:txBody>
                    <a:bodyPr/>
                    <a:lstStyle/>
                    <a:p>
                      <a:endParaRPr lang="en-US" sz="2000" dirty="0">
                        <a:solidFill>
                          <a:schemeClr val="bg1"/>
                        </a:solidFill>
                      </a:endParaRPr>
                    </a:p>
                    <a:p>
                      <a:r>
                        <a:rPr lang="en-US" sz="2000" dirty="0">
                          <a:solidFill>
                            <a:schemeClr val="bg1"/>
                          </a:solidFill>
                        </a:rPr>
                        <a:t>Level of</a:t>
                      </a:r>
                    </a:p>
                    <a:p>
                      <a:r>
                        <a:rPr lang="en-US" sz="2000" dirty="0">
                          <a:solidFill>
                            <a:schemeClr val="bg1"/>
                          </a:solidFill>
                        </a:rPr>
                        <a:t>Measurement</a:t>
                      </a:r>
                    </a:p>
                  </a:txBody>
                  <a:tcPr marL="91439" marR="91439">
                    <a:solidFill>
                      <a:srgbClr val="0070C0"/>
                    </a:solidFill>
                  </a:tcPr>
                </a:tc>
                <a:tc>
                  <a:txBody>
                    <a:bodyPr/>
                    <a:lstStyle/>
                    <a:p>
                      <a:pPr algn="ctr"/>
                      <a:r>
                        <a:rPr lang="en-US" sz="2000" dirty="0">
                          <a:solidFill>
                            <a:schemeClr val="bg1"/>
                          </a:solidFill>
                        </a:rPr>
                        <a:t>Put data in</a:t>
                      </a:r>
                    </a:p>
                    <a:p>
                      <a:pPr algn="ctr"/>
                      <a:r>
                        <a:rPr lang="en-US" sz="2000" dirty="0">
                          <a:solidFill>
                            <a:schemeClr val="bg1"/>
                          </a:solidFill>
                        </a:rPr>
                        <a:t>categories</a:t>
                      </a:r>
                    </a:p>
                  </a:txBody>
                  <a:tcPr marL="91439" marR="91439">
                    <a:solidFill>
                      <a:srgbClr val="0070C0"/>
                    </a:solidFill>
                  </a:tcPr>
                </a:tc>
                <a:tc>
                  <a:txBody>
                    <a:bodyPr/>
                    <a:lstStyle/>
                    <a:p>
                      <a:pPr algn="ctr"/>
                      <a:r>
                        <a:rPr lang="en-US" sz="2000" dirty="0">
                          <a:solidFill>
                            <a:schemeClr val="bg1"/>
                          </a:solidFill>
                        </a:rPr>
                        <a:t>Arrange</a:t>
                      </a:r>
                    </a:p>
                    <a:p>
                      <a:pPr algn="ctr"/>
                      <a:r>
                        <a:rPr lang="en-US" sz="2000" dirty="0">
                          <a:solidFill>
                            <a:schemeClr val="bg1"/>
                          </a:solidFill>
                        </a:rPr>
                        <a:t>data</a:t>
                      </a:r>
                      <a:r>
                        <a:rPr lang="en-US" sz="2000" baseline="0" dirty="0">
                          <a:solidFill>
                            <a:schemeClr val="bg1"/>
                          </a:solidFill>
                        </a:rPr>
                        <a:t> in</a:t>
                      </a:r>
                    </a:p>
                    <a:p>
                      <a:pPr algn="ctr"/>
                      <a:r>
                        <a:rPr lang="en-US" sz="2000" baseline="0" dirty="0">
                          <a:solidFill>
                            <a:schemeClr val="bg1"/>
                          </a:solidFill>
                        </a:rPr>
                        <a:t>order</a:t>
                      </a:r>
                      <a:endParaRPr lang="en-US" sz="2000" dirty="0">
                        <a:solidFill>
                          <a:schemeClr val="bg1"/>
                        </a:solidFill>
                      </a:endParaRPr>
                    </a:p>
                  </a:txBody>
                  <a:tcPr marL="91439" marR="91439">
                    <a:solidFill>
                      <a:srgbClr val="0070C0"/>
                    </a:solidFill>
                  </a:tcPr>
                </a:tc>
                <a:tc>
                  <a:txBody>
                    <a:bodyPr/>
                    <a:lstStyle/>
                    <a:p>
                      <a:pPr algn="ctr"/>
                      <a:r>
                        <a:rPr lang="en-US" sz="2000" dirty="0">
                          <a:solidFill>
                            <a:schemeClr val="bg1"/>
                          </a:solidFill>
                        </a:rPr>
                        <a:t>Subtract</a:t>
                      </a:r>
                    </a:p>
                    <a:p>
                      <a:pPr algn="ctr"/>
                      <a:r>
                        <a:rPr lang="en-US" sz="2000" dirty="0">
                          <a:solidFill>
                            <a:schemeClr val="bg1"/>
                          </a:solidFill>
                        </a:rPr>
                        <a:t>data</a:t>
                      </a:r>
                    </a:p>
                    <a:p>
                      <a:pPr algn="ctr"/>
                      <a:r>
                        <a:rPr lang="en-US" sz="2000" dirty="0">
                          <a:solidFill>
                            <a:schemeClr val="bg1"/>
                          </a:solidFill>
                        </a:rPr>
                        <a:t>values</a:t>
                      </a:r>
                    </a:p>
                  </a:txBody>
                  <a:tcPr marL="91439" marR="91439">
                    <a:solidFill>
                      <a:srgbClr val="0070C0"/>
                    </a:solidFill>
                  </a:tcPr>
                </a:tc>
                <a:tc>
                  <a:txBody>
                    <a:bodyPr/>
                    <a:lstStyle/>
                    <a:p>
                      <a:pPr algn="ctr"/>
                      <a:r>
                        <a:rPr lang="en-US" sz="2000" dirty="0">
                          <a:solidFill>
                            <a:schemeClr val="bg1"/>
                          </a:solidFill>
                        </a:rPr>
                        <a:t>Determine if one data value is a multiple</a:t>
                      </a:r>
                      <a:r>
                        <a:rPr lang="en-US" sz="2000" baseline="0" dirty="0">
                          <a:solidFill>
                            <a:schemeClr val="bg1"/>
                          </a:solidFill>
                        </a:rPr>
                        <a:t> of another</a:t>
                      </a:r>
                      <a:endParaRPr lang="en-US" sz="2000" dirty="0">
                        <a:solidFill>
                          <a:schemeClr val="bg1"/>
                        </a:solidFill>
                      </a:endParaRPr>
                    </a:p>
                  </a:txBody>
                  <a:tcPr marL="91439" marR="91439">
                    <a:solidFill>
                      <a:srgbClr val="0070C0"/>
                    </a:solidFill>
                  </a:tcPr>
                </a:tc>
                <a:extLst>
                  <a:ext uri="{0D108BD9-81ED-4DB2-BD59-A6C34878D82A}">
                    <a16:rowId xmlns:a16="http://schemas.microsoft.com/office/drawing/2014/main" val="10000"/>
                  </a:ext>
                </a:extLst>
              </a:tr>
              <a:tr h="370840">
                <a:tc>
                  <a:txBody>
                    <a:bodyPr/>
                    <a:lstStyle/>
                    <a:p>
                      <a:r>
                        <a:rPr lang="en-US" sz="2000" dirty="0"/>
                        <a:t>Nominal</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t>No</a:t>
                      </a:r>
                    </a:p>
                  </a:txBody>
                  <a:tcPr marL="91439" marR="91439"/>
                </a:tc>
                <a:tc>
                  <a:txBody>
                    <a:bodyPr/>
                    <a:lstStyle/>
                    <a:p>
                      <a:pPr algn="ctr"/>
                      <a:r>
                        <a:rPr lang="en-US" sz="2000" dirty="0"/>
                        <a:t>No</a:t>
                      </a:r>
                    </a:p>
                  </a:txBody>
                  <a:tcPr marL="91439" marR="91439"/>
                </a:tc>
                <a:tc>
                  <a:txBody>
                    <a:bodyPr/>
                    <a:lstStyle/>
                    <a:p>
                      <a:pPr algn="ctr"/>
                      <a:r>
                        <a:rPr lang="en-US" sz="2000" dirty="0"/>
                        <a:t>No</a:t>
                      </a:r>
                    </a:p>
                  </a:txBody>
                  <a:tcPr marL="91439" marR="91439"/>
                </a:tc>
                <a:extLst>
                  <a:ext uri="{0D108BD9-81ED-4DB2-BD59-A6C34878D82A}">
                    <a16:rowId xmlns:a16="http://schemas.microsoft.com/office/drawing/2014/main" val="10001"/>
                  </a:ext>
                </a:extLst>
              </a:tr>
              <a:tr h="370840">
                <a:tc>
                  <a:txBody>
                    <a:bodyPr/>
                    <a:lstStyle/>
                    <a:p>
                      <a:r>
                        <a:rPr lang="en-US" sz="2000" dirty="0"/>
                        <a:t>Ordinal</a:t>
                      </a:r>
                    </a:p>
                  </a:txBody>
                  <a:tcPr marL="91439" marR="9143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t>No</a:t>
                      </a:r>
                    </a:p>
                  </a:txBody>
                  <a:tcPr marL="91439" marR="91439"/>
                </a:tc>
                <a:tc>
                  <a:txBody>
                    <a:bodyPr/>
                    <a:lstStyle/>
                    <a:p>
                      <a:pPr algn="ctr"/>
                      <a:r>
                        <a:rPr lang="en-US" sz="2000" dirty="0"/>
                        <a:t>No</a:t>
                      </a:r>
                    </a:p>
                  </a:txBody>
                  <a:tcPr marL="91439" marR="91439"/>
                </a:tc>
                <a:extLst>
                  <a:ext uri="{0D108BD9-81ED-4DB2-BD59-A6C34878D82A}">
                    <a16:rowId xmlns:a16="http://schemas.microsoft.com/office/drawing/2014/main" val="10002"/>
                  </a:ext>
                </a:extLst>
              </a:tr>
              <a:tr h="370840">
                <a:tc>
                  <a:txBody>
                    <a:bodyPr/>
                    <a:lstStyle/>
                    <a:p>
                      <a:r>
                        <a:rPr lang="en-US" sz="2000" dirty="0"/>
                        <a:t>Interval</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t>No</a:t>
                      </a:r>
                    </a:p>
                  </a:txBody>
                  <a:tcPr marL="91439" marR="91439"/>
                </a:tc>
                <a:extLst>
                  <a:ext uri="{0D108BD9-81ED-4DB2-BD59-A6C34878D82A}">
                    <a16:rowId xmlns:a16="http://schemas.microsoft.com/office/drawing/2014/main" val="10003"/>
                  </a:ext>
                </a:extLst>
              </a:tr>
              <a:tr h="370840">
                <a:tc>
                  <a:txBody>
                    <a:bodyPr/>
                    <a:lstStyle/>
                    <a:p>
                      <a:r>
                        <a:rPr lang="en-US" sz="2000" dirty="0"/>
                        <a:t>Ratio</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tc>
                  <a:txBody>
                    <a:bodyPr/>
                    <a:lstStyle/>
                    <a:p>
                      <a:pPr algn="ctr"/>
                      <a:r>
                        <a:rPr lang="en-US" sz="2000" dirty="0">
                          <a:solidFill>
                            <a:srgbClr val="C00000"/>
                          </a:solidFill>
                        </a:rPr>
                        <a:t>Yes</a:t>
                      </a:r>
                    </a:p>
                  </a:txBody>
                  <a:tcPr marL="91439" marR="9143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87233384"/>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E82E4575-8099-416C-99BC-5B10DFC8DC19}"/>
              </a:ext>
            </a:extLst>
          </p:cNvPr>
          <p:cNvSpPr>
            <a:spLocks noGrp="1"/>
          </p:cNvSpPr>
          <p:nvPr>
            <p:ph type="title"/>
          </p:nvPr>
        </p:nvSpPr>
        <p:spPr/>
        <p:txBody>
          <a:bodyPr/>
          <a:lstStyle/>
          <a:p>
            <a:pPr eaLnBrk="1" hangingPunct="1"/>
            <a:r>
              <a:rPr lang="en-US" altLang="en-US" dirty="0"/>
              <a:t>Summary of Four Levels of Measurement</a:t>
            </a:r>
          </a:p>
        </p:txBody>
      </p:sp>
      <p:pic>
        <p:nvPicPr>
          <p:cNvPr id="5" name="Picture 4">
            <a:extLst>
              <a:ext uri="{FF2B5EF4-FFF2-40B4-BE49-F238E27FC236}">
                <a16:creationId xmlns:a16="http://schemas.microsoft.com/office/drawing/2014/main" id="{F8977C6F-6A6E-4B4C-9521-837636EE12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 b="9936"/>
          <a:stretch/>
        </p:blipFill>
        <p:spPr>
          <a:xfrm>
            <a:off x="0" y="1553066"/>
            <a:ext cx="9144000" cy="448990"/>
          </a:xfrm>
          <a:prstGeom prst="rect">
            <a:avLst/>
          </a:prstGeom>
        </p:spPr>
      </p:pic>
      <p:pic>
        <p:nvPicPr>
          <p:cNvPr id="7" name="Picture 6" descr="A screenshot of a cell phone&#10;&#10;Description generated with very high confidence">
            <a:extLst>
              <a:ext uri="{FF2B5EF4-FFF2-40B4-BE49-F238E27FC236}">
                <a16:creationId xmlns:a16="http://schemas.microsoft.com/office/drawing/2014/main" id="{C0B7DB51-7332-43ED-8170-E19E0890174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93"/>
          <a:stretch/>
        </p:blipFill>
        <p:spPr>
          <a:xfrm>
            <a:off x="0" y="2146434"/>
            <a:ext cx="9144000" cy="1281367"/>
          </a:xfrm>
          <a:prstGeom prst="rect">
            <a:avLst/>
          </a:prstGeom>
        </p:spPr>
      </p:pic>
      <p:pic>
        <p:nvPicPr>
          <p:cNvPr id="9" name="Picture 8" descr="A screenshot of a cell phone&#10;&#10;Description generated with very high confidence">
            <a:extLst>
              <a:ext uri="{FF2B5EF4-FFF2-40B4-BE49-F238E27FC236}">
                <a16:creationId xmlns:a16="http://schemas.microsoft.com/office/drawing/2014/main" id="{A82667B5-F2B4-41EB-84CF-942A54AA85E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064" b="2410"/>
          <a:stretch/>
        </p:blipFill>
        <p:spPr>
          <a:xfrm>
            <a:off x="0" y="3407347"/>
            <a:ext cx="9144000" cy="1694047"/>
          </a:xfrm>
          <a:prstGeom prst="rect">
            <a:avLst/>
          </a:prstGeom>
        </p:spPr>
      </p:pic>
    </p:spTree>
    <p:extLst>
      <p:ext uri="{BB962C8B-B14F-4D97-AF65-F5344CB8AC3E}">
        <p14:creationId xmlns:p14="http://schemas.microsoft.com/office/powerpoint/2010/main" val="9785769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E82E4575-8099-416C-99BC-5B10DFC8DC19}"/>
              </a:ext>
            </a:extLst>
          </p:cNvPr>
          <p:cNvSpPr>
            <a:spLocks noGrp="1"/>
          </p:cNvSpPr>
          <p:nvPr>
            <p:ph type="title"/>
          </p:nvPr>
        </p:nvSpPr>
        <p:spPr/>
        <p:txBody>
          <a:bodyPr/>
          <a:lstStyle/>
          <a:p>
            <a:pPr eaLnBrk="1" hangingPunct="1"/>
            <a:r>
              <a:rPr lang="en-US" altLang="en-US" dirty="0"/>
              <a:t>Summary of Four Levels of Measurement</a:t>
            </a:r>
          </a:p>
        </p:txBody>
      </p:sp>
      <p:pic>
        <p:nvPicPr>
          <p:cNvPr id="5" name="Picture 4">
            <a:extLst>
              <a:ext uri="{FF2B5EF4-FFF2-40B4-BE49-F238E27FC236}">
                <a16:creationId xmlns:a16="http://schemas.microsoft.com/office/drawing/2014/main" id="{F8977C6F-6A6E-4B4C-9521-837636EE12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 b="9936"/>
          <a:stretch/>
        </p:blipFill>
        <p:spPr>
          <a:xfrm>
            <a:off x="0" y="1553066"/>
            <a:ext cx="9144000" cy="448990"/>
          </a:xfrm>
          <a:prstGeom prst="rect">
            <a:avLst/>
          </a:prstGeom>
        </p:spPr>
      </p:pic>
      <p:pic>
        <p:nvPicPr>
          <p:cNvPr id="3" name="Picture 2" descr="A screenshot of a cell phone&#10;&#10;Description generated with very high confidence">
            <a:extLst>
              <a:ext uri="{FF2B5EF4-FFF2-40B4-BE49-F238E27FC236}">
                <a16:creationId xmlns:a16="http://schemas.microsoft.com/office/drawing/2014/main" id="{7EB3592E-39C0-47DF-BF29-19A5821191E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4031" b="904"/>
          <a:stretch/>
        </p:blipFill>
        <p:spPr>
          <a:xfrm>
            <a:off x="0" y="2002056"/>
            <a:ext cx="9144000" cy="2194560"/>
          </a:xfrm>
          <a:prstGeom prst="rect">
            <a:avLst/>
          </a:prstGeom>
        </p:spPr>
      </p:pic>
      <p:pic>
        <p:nvPicPr>
          <p:cNvPr id="6" name="Picture 5" descr="A screenshot of a cell phone&#10;&#10;Description generated with very high confidence">
            <a:extLst>
              <a:ext uri="{FF2B5EF4-FFF2-40B4-BE49-F238E27FC236}">
                <a16:creationId xmlns:a16="http://schemas.microsoft.com/office/drawing/2014/main" id="{0B20C399-FB9A-4421-A5FE-38BC5876B2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4156912"/>
            <a:ext cx="9144000" cy="2278778"/>
          </a:xfrm>
          <a:prstGeom prst="rect">
            <a:avLst/>
          </a:prstGeom>
        </p:spPr>
      </p:pic>
    </p:spTree>
    <p:extLst>
      <p:ext uri="{BB962C8B-B14F-4D97-AF65-F5344CB8AC3E}">
        <p14:creationId xmlns:p14="http://schemas.microsoft.com/office/powerpoint/2010/main" val="335526257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6BFFB8-4765-DDB5-5CE5-CBE9DC11F4D7}"/>
              </a:ext>
            </a:extLst>
          </p:cNvPr>
          <p:cNvSpPr>
            <a:spLocks noGrp="1"/>
          </p:cNvSpPr>
          <p:nvPr>
            <p:ph idx="1"/>
          </p:nvPr>
        </p:nvSpPr>
        <p:spPr>
          <a:xfrm>
            <a:off x="457200" y="1574561"/>
            <a:ext cx="6242703" cy="4525963"/>
          </a:xfrm>
        </p:spPr>
        <p:txBody>
          <a:bodyPr/>
          <a:lstStyle/>
          <a:p>
            <a:pPr marL="0" indent="0">
              <a:buNone/>
            </a:pPr>
            <a:r>
              <a:rPr lang="en-US" sz="2400" dirty="0"/>
              <a:t>The populations of several U.S cities are shown in the table. Which data are qualitative data and which are quantitative data?</a:t>
            </a:r>
          </a:p>
          <a:p>
            <a:pPr marL="514350" indent="-514350">
              <a:buFont typeface="+mj-lt"/>
              <a:buAutoNum type="alphaLcPeriod"/>
            </a:pPr>
            <a:r>
              <a:rPr lang="en-US" sz="2400" dirty="0"/>
              <a:t>Identify the contents of each data set.</a:t>
            </a:r>
          </a:p>
          <a:p>
            <a:pPr marL="514350" indent="-514350">
              <a:buFont typeface="+mj-lt"/>
              <a:buAutoNum type="alphaLcPeriod"/>
            </a:pPr>
            <a:r>
              <a:rPr lang="en-US" sz="2400" dirty="0"/>
              <a:t>Decide whether each data set consists of numerical or nonnumerical entries.</a:t>
            </a:r>
          </a:p>
          <a:p>
            <a:pPr marL="514350" indent="-514350">
              <a:buFont typeface="+mj-lt"/>
              <a:buAutoNum type="alphaLcPeriod"/>
            </a:pPr>
            <a:r>
              <a:rPr lang="en-US" sz="2400" dirty="0"/>
              <a:t>Specify the qualitative data and the quantitative data.</a:t>
            </a:r>
          </a:p>
        </p:txBody>
      </p:sp>
      <p:sp>
        <p:nvSpPr>
          <p:cNvPr id="3" name="Title 2">
            <a:extLst>
              <a:ext uri="{FF2B5EF4-FFF2-40B4-BE49-F238E27FC236}">
                <a16:creationId xmlns:a16="http://schemas.microsoft.com/office/drawing/2014/main" id="{745A7C0E-2242-2977-8306-69CD02132054}"/>
              </a:ext>
            </a:extLst>
          </p:cNvPr>
          <p:cNvSpPr>
            <a:spLocks noGrp="1"/>
          </p:cNvSpPr>
          <p:nvPr>
            <p:ph type="title"/>
          </p:nvPr>
        </p:nvSpPr>
        <p:spPr/>
        <p:txBody>
          <a:bodyPr/>
          <a:lstStyle/>
          <a:p>
            <a:r>
              <a:rPr lang="en-US" dirty="0"/>
              <a:t>Exercise 1</a:t>
            </a:r>
          </a:p>
        </p:txBody>
      </p:sp>
      <p:graphicFrame>
        <p:nvGraphicFramePr>
          <p:cNvPr id="4" name="Table 3">
            <a:extLst>
              <a:ext uri="{FF2B5EF4-FFF2-40B4-BE49-F238E27FC236}">
                <a16:creationId xmlns:a16="http://schemas.microsoft.com/office/drawing/2014/main" id="{B8D871CD-B83E-4B16-5664-60EC7255797B}"/>
              </a:ext>
            </a:extLst>
          </p:cNvPr>
          <p:cNvGraphicFramePr>
            <a:graphicFrameLocks noGrp="1"/>
          </p:cNvGraphicFramePr>
          <p:nvPr>
            <p:extLst>
              <p:ext uri="{D42A27DB-BD31-4B8C-83A1-F6EECF244321}">
                <p14:modId xmlns:p14="http://schemas.microsoft.com/office/powerpoint/2010/main" val="3225608861"/>
              </p:ext>
            </p:extLst>
          </p:nvPr>
        </p:nvGraphicFramePr>
        <p:xfrm>
          <a:off x="6174335" y="2404607"/>
          <a:ext cx="2777384" cy="2185520"/>
        </p:xfrm>
        <a:graphic>
          <a:graphicData uri="http://schemas.openxmlformats.org/drawingml/2006/table">
            <a:tbl>
              <a:tblPr firstRow="1" bandRow="1">
                <a:tableStyleId>{5C22544A-7EE6-4342-B048-85BDC9FD1C3A}</a:tableStyleId>
              </a:tblPr>
              <a:tblGrid>
                <a:gridCol w="1522940">
                  <a:extLst>
                    <a:ext uri="{9D8B030D-6E8A-4147-A177-3AD203B41FA5}">
                      <a16:colId xmlns:a16="http://schemas.microsoft.com/office/drawing/2014/main" val="4004762656"/>
                    </a:ext>
                  </a:extLst>
                </a:gridCol>
                <a:gridCol w="1254444">
                  <a:extLst>
                    <a:ext uri="{9D8B030D-6E8A-4147-A177-3AD203B41FA5}">
                      <a16:colId xmlns:a16="http://schemas.microsoft.com/office/drawing/2014/main" val="3494575222"/>
                    </a:ext>
                  </a:extLst>
                </a:gridCol>
              </a:tblGrid>
              <a:tr h="290548">
                <a:tc>
                  <a:txBody>
                    <a:bodyPr/>
                    <a:lstStyle/>
                    <a:p>
                      <a:r>
                        <a:rPr lang="en-US" sz="1400" dirty="0"/>
                        <a:t>City</a:t>
                      </a:r>
                    </a:p>
                  </a:txBody>
                  <a:tcPr/>
                </a:tc>
                <a:tc>
                  <a:txBody>
                    <a:bodyPr/>
                    <a:lstStyle/>
                    <a:p>
                      <a:r>
                        <a:rPr lang="en-US" sz="1400" dirty="0"/>
                        <a:t>Population</a:t>
                      </a:r>
                    </a:p>
                  </a:txBody>
                  <a:tcPr/>
                </a:tc>
                <a:extLst>
                  <a:ext uri="{0D108BD9-81ED-4DB2-BD59-A6C34878D82A}">
                    <a16:rowId xmlns:a16="http://schemas.microsoft.com/office/drawing/2014/main" val="2828254754"/>
                  </a:ext>
                </a:extLst>
              </a:tr>
              <a:tr h="290548">
                <a:tc>
                  <a:txBody>
                    <a:bodyPr/>
                    <a:lstStyle/>
                    <a:p>
                      <a:r>
                        <a:rPr lang="en-US" sz="1400" dirty="0"/>
                        <a:t>Cleveland, OH</a:t>
                      </a:r>
                    </a:p>
                  </a:txBody>
                  <a:tcPr/>
                </a:tc>
                <a:tc>
                  <a:txBody>
                    <a:bodyPr/>
                    <a:lstStyle/>
                    <a:p>
                      <a:r>
                        <a:rPr lang="en-US" sz="1400" dirty="0"/>
                        <a:t>452,208</a:t>
                      </a:r>
                    </a:p>
                  </a:txBody>
                  <a:tcPr/>
                </a:tc>
                <a:extLst>
                  <a:ext uri="{0D108BD9-81ED-4DB2-BD59-A6C34878D82A}">
                    <a16:rowId xmlns:a16="http://schemas.microsoft.com/office/drawing/2014/main" val="2202841324"/>
                  </a:ext>
                </a:extLst>
              </a:tr>
              <a:tr h="290548">
                <a:tc>
                  <a:txBody>
                    <a:bodyPr/>
                    <a:lstStyle/>
                    <a:p>
                      <a:r>
                        <a:rPr lang="en-US" sz="1400" dirty="0"/>
                        <a:t>Detroit, MI</a:t>
                      </a:r>
                    </a:p>
                  </a:txBody>
                  <a:tcPr/>
                </a:tc>
                <a:tc>
                  <a:txBody>
                    <a:bodyPr/>
                    <a:lstStyle/>
                    <a:p>
                      <a:r>
                        <a:rPr lang="en-US" sz="1400" dirty="0"/>
                        <a:t>886,671</a:t>
                      </a:r>
                    </a:p>
                  </a:txBody>
                  <a:tcPr/>
                </a:tc>
                <a:extLst>
                  <a:ext uri="{0D108BD9-81ED-4DB2-BD59-A6C34878D82A}">
                    <a16:rowId xmlns:a16="http://schemas.microsoft.com/office/drawing/2014/main" val="3841856244"/>
                  </a:ext>
                </a:extLst>
              </a:tr>
              <a:tr h="290548">
                <a:tc>
                  <a:txBody>
                    <a:bodyPr/>
                    <a:lstStyle/>
                    <a:p>
                      <a:r>
                        <a:rPr lang="en-US" sz="1400" dirty="0"/>
                        <a:t>Houston, TX</a:t>
                      </a:r>
                    </a:p>
                  </a:txBody>
                  <a:tcPr/>
                </a:tc>
                <a:tc>
                  <a:txBody>
                    <a:bodyPr/>
                    <a:lstStyle/>
                    <a:p>
                      <a:r>
                        <a:rPr lang="en-US" sz="1400" dirty="0"/>
                        <a:t>2,016,582</a:t>
                      </a:r>
                    </a:p>
                  </a:txBody>
                  <a:tcPr/>
                </a:tc>
                <a:extLst>
                  <a:ext uri="{0D108BD9-81ED-4DB2-BD59-A6C34878D82A}">
                    <a16:rowId xmlns:a16="http://schemas.microsoft.com/office/drawing/2014/main" val="2974765408"/>
                  </a:ext>
                </a:extLst>
              </a:tr>
              <a:tr h="290548">
                <a:tc>
                  <a:txBody>
                    <a:bodyPr/>
                    <a:lstStyle/>
                    <a:p>
                      <a:r>
                        <a:rPr lang="en-US" sz="1400" dirty="0"/>
                        <a:t>Las Vegas, NV</a:t>
                      </a:r>
                    </a:p>
                  </a:txBody>
                  <a:tcPr/>
                </a:tc>
                <a:tc>
                  <a:txBody>
                    <a:bodyPr/>
                    <a:lstStyle/>
                    <a:p>
                      <a:r>
                        <a:rPr lang="en-US" sz="1400" dirty="0"/>
                        <a:t>545,147</a:t>
                      </a:r>
                    </a:p>
                  </a:txBody>
                  <a:tcPr/>
                </a:tc>
                <a:extLst>
                  <a:ext uri="{0D108BD9-81ED-4DB2-BD59-A6C34878D82A}">
                    <a16:rowId xmlns:a16="http://schemas.microsoft.com/office/drawing/2014/main" val="850366041"/>
                  </a:ext>
                </a:extLst>
              </a:tr>
              <a:tr h="290548">
                <a:tc>
                  <a:txBody>
                    <a:bodyPr/>
                    <a:lstStyle/>
                    <a:p>
                      <a:r>
                        <a:rPr lang="en-US" sz="1400" dirty="0"/>
                        <a:t>Portland, OR</a:t>
                      </a:r>
                    </a:p>
                  </a:txBody>
                  <a:tcPr/>
                </a:tc>
                <a:tc>
                  <a:txBody>
                    <a:bodyPr/>
                    <a:lstStyle/>
                    <a:p>
                      <a:r>
                        <a:rPr lang="en-US" sz="1400" dirty="0"/>
                        <a:t>533,427</a:t>
                      </a:r>
                    </a:p>
                  </a:txBody>
                  <a:tcPr/>
                </a:tc>
                <a:extLst>
                  <a:ext uri="{0D108BD9-81ED-4DB2-BD59-A6C34878D82A}">
                    <a16:rowId xmlns:a16="http://schemas.microsoft.com/office/drawing/2014/main" val="1667341170"/>
                  </a:ext>
                </a:extLst>
              </a:tr>
              <a:tr h="356720">
                <a:tc>
                  <a:txBody>
                    <a:bodyPr/>
                    <a:lstStyle/>
                    <a:p>
                      <a:r>
                        <a:rPr lang="en-US" sz="1400" dirty="0" err="1"/>
                        <a:t>Tropeka</a:t>
                      </a:r>
                      <a:r>
                        <a:rPr lang="en-US" sz="1400" dirty="0"/>
                        <a:t>, KS</a:t>
                      </a:r>
                    </a:p>
                  </a:txBody>
                  <a:tcPr/>
                </a:tc>
                <a:tc>
                  <a:txBody>
                    <a:bodyPr/>
                    <a:lstStyle/>
                    <a:p>
                      <a:r>
                        <a:rPr lang="en-US" sz="1400" dirty="0"/>
                        <a:t>121,946</a:t>
                      </a:r>
                    </a:p>
                  </a:txBody>
                  <a:tcPr/>
                </a:tc>
                <a:extLst>
                  <a:ext uri="{0D108BD9-81ED-4DB2-BD59-A6C34878D82A}">
                    <a16:rowId xmlns:a16="http://schemas.microsoft.com/office/drawing/2014/main" val="3560713011"/>
                  </a:ext>
                </a:extLst>
              </a:tr>
            </a:tbl>
          </a:graphicData>
        </a:graphic>
      </p:graphicFrame>
    </p:spTree>
    <p:extLst>
      <p:ext uri="{BB962C8B-B14F-4D97-AF65-F5344CB8AC3E}">
        <p14:creationId xmlns:p14="http://schemas.microsoft.com/office/powerpoint/2010/main" val="2235755177"/>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969BF3-579B-97F7-5BB9-8540F784FF4F}"/>
              </a:ext>
            </a:extLst>
          </p:cNvPr>
          <p:cNvSpPr>
            <a:spLocks noGrp="1"/>
          </p:cNvSpPr>
          <p:nvPr>
            <p:ph idx="1"/>
          </p:nvPr>
        </p:nvSpPr>
        <p:spPr/>
        <p:txBody>
          <a:bodyPr/>
          <a:lstStyle/>
          <a:p>
            <a:pPr marL="0" indent="0">
              <a:buNone/>
            </a:pPr>
            <a:endParaRPr lang="en-US" dirty="0"/>
          </a:p>
        </p:txBody>
      </p:sp>
      <p:sp>
        <p:nvSpPr>
          <p:cNvPr id="3" name="Title 2">
            <a:extLst>
              <a:ext uri="{FF2B5EF4-FFF2-40B4-BE49-F238E27FC236}">
                <a16:creationId xmlns:a16="http://schemas.microsoft.com/office/drawing/2014/main" id="{E9A90E68-C3A3-357B-72F4-FA13A6DDE459}"/>
              </a:ext>
            </a:extLst>
          </p:cNvPr>
          <p:cNvSpPr>
            <a:spLocks noGrp="1"/>
          </p:cNvSpPr>
          <p:nvPr>
            <p:ph type="title"/>
          </p:nvPr>
        </p:nvSpPr>
        <p:spPr/>
        <p:txBody>
          <a:bodyPr/>
          <a:lstStyle/>
          <a:p>
            <a:r>
              <a:rPr lang="en-US" dirty="0"/>
              <a:t>Solution 1</a:t>
            </a:r>
          </a:p>
        </p:txBody>
      </p:sp>
    </p:spTree>
    <p:extLst>
      <p:ext uri="{BB962C8B-B14F-4D97-AF65-F5344CB8AC3E}">
        <p14:creationId xmlns:p14="http://schemas.microsoft.com/office/powerpoint/2010/main" val="3667683614"/>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FAB537-A122-A700-380D-E3D4F2B73DAB}"/>
              </a:ext>
            </a:extLst>
          </p:cNvPr>
          <p:cNvSpPr>
            <a:spLocks noGrp="1"/>
          </p:cNvSpPr>
          <p:nvPr>
            <p:ph idx="1"/>
          </p:nvPr>
        </p:nvSpPr>
        <p:spPr/>
        <p:txBody>
          <a:bodyPr/>
          <a:lstStyle/>
          <a:p>
            <a:pPr marL="0" indent="0">
              <a:buNone/>
            </a:pPr>
            <a:r>
              <a:rPr lang="en-US" dirty="0"/>
              <a:t>Consider the following data sets. For each data set, decide whether the data are at the nominal level or at the ordinal level.</a:t>
            </a:r>
          </a:p>
          <a:p>
            <a:pPr marL="514350" indent="-514350">
              <a:buFont typeface="+mj-lt"/>
              <a:buAutoNum type="alphaLcPeriod"/>
            </a:pPr>
            <a:r>
              <a:rPr lang="en-US" dirty="0"/>
              <a:t>The final standings for the Pacific Division of the National Basketball Association.</a:t>
            </a:r>
          </a:p>
          <a:p>
            <a:pPr marL="514350" indent="-514350">
              <a:buFont typeface="+mj-lt"/>
              <a:buAutoNum type="alphaLcPeriod"/>
            </a:pPr>
            <a:r>
              <a:rPr lang="en-US" dirty="0"/>
              <a:t>A collection of phone numbers.</a:t>
            </a:r>
          </a:p>
        </p:txBody>
      </p:sp>
      <p:sp>
        <p:nvSpPr>
          <p:cNvPr id="3" name="Title 2">
            <a:extLst>
              <a:ext uri="{FF2B5EF4-FFF2-40B4-BE49-F238E27FC236}">
                <a16:creationId xmlns:a16="http://schemas.microsoft.com/office/drawing/2014/main" id="{DDE5ECC5-4FD8-310B-2E54-92C83F81ADEE}"/>
              </a:ext>
            </a:extLst>
          </p:cNvPr>
          <p:cNvSpPr>
            <a:spLocks noGrp="1"/>
          </p:cNvSpPr>
          <p:nvPr>
            <p:ph type="title"/>
          </p:nvPr>
        </p:nvSpPr>
        <p:spPr/>
        <p:txBody>
          <a:bodyPr/>
          <a:lstStyle/>
          <a:p>
            <a:r>
              <a:rPr lang="en-US" dirty="0"/>
              <a:t>Exercise 2</a:t>
            </a:r>
          </a:p>
        </p:txBody>
      </p:sp>
    </p:spTree>
    <p:extLst>
      <p:ext uri="{BB962C8B-B14F-4D97-AF65-F5344CB8AC3E}">
        <p14:creationId xmlns:p14="http://schemas.microsoft.com/office/powerpoint/2010/main" val="2544160232"/>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1A539E-04F8-30ED-5F30-D0AEF5AFB6B8}"/>
              </a:ext>
            </a:extLst>
          </p:cNvPr>
          <p:cNvSpPr>
            <a:spLocks noGrp="1"/>
          </p:cNvSpPr>
          <p:nvPr>
            <p:ph idx="1"/>
          </p:nvPr>
        </p:nvSpPr>
        <p:spPr/>
        <p:txBody>
          <a:bodyPr/>
          <a:lstStyle/>
          <a:p>
            <a:pPr marL="0" indent="0">
              <a:buNone/>
            </a:pPr>
            <a:endParaRPr lang="en-US" dirty="0"/>
          </a:p>
        </p:txBody>
      </p:sp>
      <p:sp>
        <p:nvSpPr>
          <p:cNvPr id="3" name="Title 2">
            <a:extLst>
              <a:ext uri="{FF2B5EF4-FFF2-40B4-BE49-F238E27FC236}">
                <a16:creationId xmlns:a16="http://schemas.microsoft.com/office/drawing/2014/main" id="{FC7CE6EB-F106-CCA2-1953-9F0B6ED7F9FE}"/>
              </a:ext>
            </a:extLst>
          </p:cNvPr>
          <p:cNvSpPr>
            <a:spLocks noGrp="1"/>
          </p:cNvSpPr>
          <p:nvPr>
            <p:ph type="title"/>
          </p:nvPr>
        </p:nvSpPr>
        <p:spPr/>
        <p:txBody>
          <a:bodyPr/>
          <a:lstStyle/>
          <a:p>
            <a:r>
              <a:rPr lang="en-US" dirty="0"/>
              <a:t>Solution 2</a:t>
            </a:r>
          </a:p>
        </p:txBody>
      </p:sp>
    </p:spTree>
    <p:extLst>
      <p:ext uri="{BB962C8B-B14F-4D97-AF65-F5344CB8AC3E}">
        <p14:creationId xmlns:p14="http://schemas.microsoft.com/office/powerpoint/2010/main" val="1648783050"/>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4C2FC5-7F58-E974-1AB5-434E7A7366A8}"/>
              </a:ext>
            </a:extLst>
          </p:cNvPr>
          <p:cNvSpPr>
            <a:spLocks noGrp="1"/>
          </p:cNvSpPr>
          <p:nvPr>
            <p:ph idx="1"/>
          </p:nvPr>
        </p:nvSpPr>
        <p:spPr/>
        <p:txBody>
          <a:bodyPr/>
          <a:lstStyle/>
          <a:p>
            <a:pPr marL="0" indent="0">
              <a:buNone/>
            </a:pPr>
            <a:r>
              <a:rPr lang="en-US" dirty="0"/>
              <a:t>Decide whether the data are at the interval level or at the ratio level.</a:t>
            </a:r>
          </a:p>
          <a:p>
            <a:pPr marL="514350" indent="-514350">
              <a:buFont typeface="+mj-lt"/>
              <a:buAutoNum type="alphaLcPeriod"/>
            </a:pPr>
            <a:r>
              <a:rPr lang="en-US" dirty="0"/>
              <a:t>The body temperature (in degrees Fahrenheit) of an athlete during an exercise session.</a:t>
            </a:r>
          </a:p>
          <a:p>
            <a:pPr marL="514350" indent="-514350">
              <a:buFont typeface="+mj-lt"/>
              <a:buAutoNum type="alphaLcPeriod"/>
            </a:pPr>
            <a:r>
              <a:rPr lang="en-US" dirty="0"/>
              <a:t>The heart rates (in beats per minute) of an athlete during an exercise session.</a:t>
            </a:r>
          </a:p>
        </p:txBody>
      </p:sp>
      <p:sp>
        <p:nvSpPr>
          <p:cNvPr id="3" name="Title 2">
            <a:extLst>
              <a:ext uri="{FF2B5EF4-FFF2-40B4-BE49-F238E27FC236}">
                <a16:creationId xmlns:a16="http://schemas.microsoft.com/office/drawing/2014/main" id="{6A832AB7-857F-842F-5A81-D5266676C2A0}"/>
              </a:ext>
            </a:extLst>
          </p:cNvPr>
          <p:cNvSpPr>
            <a:spLocks noGrp="1"/>
          </p:cNvSpPr>
          <p:nvPr>
            <p:ph type="title"/>
          </p:nvPr>
        </p:nvSpPr>
        <p:spPr/>
        <p:txBody>
          <a:bodyPr/>
          <a:lstStyle/>
          <a:p>
            <a:r>
              <a:rPr lang="en-US" dirty="0"/>
              <a:t>Exercise 3</a:t>
            </a:r>
          </a:p>
        </p:txBody>
      </p:sp>
    </p:spTree>
    <p:extLst>
      <p:ext uri="{BB962C8B-B14F-4D97-AF65-F5344CB8AC3E}">
        <p14:creationId xmlns:p14="http://schemas.microsoft.com/office/powerpoint/2010/main" val="334313732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0C8A35-C356-2C67-EC19-8FC0BF8F89E0}"/>
              </a:ext>
            </a:extLst>
          </p:cNvPr>
          <p:cNvSpPr>
            <a:spLocks noGrp="1"/>
          </p:cNvSpPr>
          <p:nvPr>
            <p:ph idx="1"/>
          </p:nvPr>
        </p:nvSpPr>
        <p:spPr/>
        <p:txBody>
          <a:bodyPr/>
          <a:lstStyle/>
          <a:p>
            <a:pPr marL="0" indent="0">
              <a:buNone/>
            </a:pPr>
            <a:endParaRPr lang="en-US" dirty="0"/>
          </a:p>
        </p:txBody>
      </p:sp>
      <p:sp>
        <p:nvSpPr>
          <p:cNvPr id="3" name="Title 2">
            <a:extLst>
              <a:ext uri="{FF2B5EF4-FFF2-40B4-BE49-F238E27FC236}">
                <a16:creationId xmlns:a16="http://schemas.microsoft.com/office/drawing/2014/main" id="{02FE0BB7-5914-071F-9FB8-43DAFB1FC855}"/>
              </a:ext>
            </a:extLst>
          </p:cNvPr>
          <p:cNvSpPr>
            <a:spLocks noGrp="1"/>
          </p:cNvSpPr>
          <p:nvPr>
            <p:ph type="title"/>
          </p:nvPr>
        </p:nvSpPr>
        <p:spPr/>
        <p:txBody>
          <a:bodyPr/>
          <a:lstStyle/>
          <a:p>
            <a:r>
              <a:rPr lang="en-US" dirty="0"/>
              <a:t>Solution 3</a:t>
            </a:r>
          </a:p>
        </p:txBody>
      </p:sp>
    </p:spTree>
    <p:extLst>
      <p:ext uri="{BB962C8B-B14F-4D97-AF65-F5344CB8AC3E}">
        <p14:creationId xmlns:p14="http://schemas.microsoft.com/office/powerpoint/2010/main" val="254160053"/>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0571A5-E0E8-FFC4-D53C-9C1C80A1A27E}"/>
              </a:ext>
            </a:extLst>
          </p:cNvPr>
          <p:cNvSpPr>
            <a:spLocks noGrp="1"/>
          </p:cNvSpPr>
          <p:nvPr>
            <p:ph idx="1"/>
          </p:nvPr>
        </p:nvSpPr>
        <p:spPr/>
        <p:txBody>
          <a:bodyPr/>
          <a:lstStyle/>
          <a:p>
            <a:pPr marL="0" indent="0">
              <a:buNone/>
            </a:pPr>
            <a:r>
              <a:rPr lang="en-US" sz="2400" dirty="0"/>
              <a:t>Determine whether the data are qualitative or quantitative and identify the data set’s level of measurement. Explain your reasoning.</a:t>
            </a:r>
          </a:p>
          <a:p>
            <a:pPr marL="514350" indent="-514350">
              <a:buFont typeface="+mj-lt"/>
              <a:buAutoNum type="alphaLcPeriod"/>
            </a:pPr>
            <a:r>
              <a:rPr lang="en-US" sz="2400" b="1" dirty="0"/>
              <a:t>Football</a:t>
            </a:r>
            <a:r>
              <a:rPr lang="en-US" sz="2400" dirty="0"/>
              <a:t>. The top five teams in the final college football poll released in January 2024 are listed.</a:t>
            </a:r>
          </a:p>
          <a:p>
            <a:pPr marL="0" indent="0" algn="ctr">
              <a:buNone/>
            </a:pPr>
            <a:r>
              <a:rPr lang="en-US" sz="2400" dirty="0"/>
              <a:t>1. Florida   2. Ohio State   3. LSU   4. USC   5. Boise State</a:t>
            </a:r>
          </a:p>
          <a:p>
            <a:pPr marL="0" indent="0" algn="ctr">
              <a:buNone/>
            </a:pPr>
            <a:endParaRPr lang="en-US" sz="2400" dirty="0"/>
          </a:p>
          <a:p>
            <a:pPr marL="457200" indent="-457200">
              <a:buFont typeface="+mj-lt"/>
              <a:buAutoNum type="alphaLcPeriod" startAt="2"/>
            </a:pPr>
            <a:r>
              <a:rPr lang="en-US" sz="2400" b="1" dirty="0"/>
              <a:t>Politics</a:t>
            </a:r>
            <a:r>
              <a:rPr lang="en-US" sz="2400" dirty="0"/>
              <a:t>. The three political parties in the 110</a:t>
            </a:r>
            <a:r>
              <a:rPr lang="en-US" sz="2400" baseline="30000" dirty="0"/>
              <a:t>th</a:t>
            </a:r>
            <a:r>
              <a:rPr lang="en-US" sz="2400" dirty="0"/>
              <a:t> Congress are listed below.</a:t>
            </a:r>
          </a:p>
          <a:p>
            <a:pPr marL="0" indent="0" algn="ctr">
              <a:buNone/>
            </a:pPr>
            <a:r>
              <a:rPr lang="en-US" sz="2400" dirty="0"/>
              <a:t>Republican   Democrat   Independent</a:t>
            </a:r>
          </a:p>
        </p:txBody>
      </p:sp>
      <p:sp>
        <p:nvSpPr>
          <p:cNvPr id="3" name="Title 2">
            <a:extLst>
              <a:ext uri="{FF2B5EF4-FFF2-40B4-BE49-F238E27FC236}">
                <a16:creationId xmlns:a16="http://schemas.microsoft.com/office/drawing/2014/main" id="{32AF3D66-3F98-E5E2-2C4F-A1319CA6377F}"/>
              </a:ext>
            </a:extLst>
          </p:cNvPr>
          <p:cNvSpPr>
            <a:spLocks noGrp="1"/>
          </p:cNvSpPr>
          <p:nvPr>
            <p:ph type="title"/>
          </p:nvPr>
        </p:nvSpPr>
        <p:spPr/>
        <p:txBody>
          <a:bodyPr/>
          <a:lstStyle/>
          <a:p>
            <a:r>
              <a:rPr lang="en-US" dirty="0"/>
              <a:t>Exercise 4</a:t>
            </a:r>
          </a:p>
        </p:txBody>
      </p:sp>
    </p:spTree>
    <p:extLst>
      <p:ext uri="{BB962C8B-B14F-4D97-AF65-F5344CB8AC3E}">
        <p14:creationId xmlns:p14="http://schemas.microsoft.com/office/powerpoint/2010/main" val="2876542902"/>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0FC6-4555-56BE-1338-A0CFB1BA99A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19436C-5D86-9E1E-8CA6-137F6D97EFF4}"/>
              </a:ext>
            </a:extLst>
          </p:cNvPr>
          <p:cNvSpPr>
            <a:spLocks noGrp="1"/>
          </p:cNvSpPr>
          <p:nvPr>
            <p:ph idx="1"/>
          </p:nvPr>
        </p:nvSpPr>
        <p:spPr/>
        <p:txBody>
          <a:bodyPr/>
          <a:lstStyle/>
          <a:p>
            <a:pPr marL="0" indent="0">
              <a:buNone/>
            </a:pPr>
            <a:r>
              <a:rPr lang="en-US" sz="2400" dirty="0"/>
              <a:t>Determine whether the data are qualitative or quantitative and identify the data set’s level of measurement. Explain your reasoning.</a:t>
            </a:r>
          </a:p>
          <a:p>
            <a:pPr marL="514350" indent="-514350">
              <a:buFont typeface="+mj-lt"/>
              <a:buAutoNum type="alphaLcPeriod" startAt="3"/>
            </a:pPr>
            <a:r>
              <a:rPr lang="en-US" sz="2400" b="1" dirty="0"/>
              <a:t>Bell Schedule. </a:t>
            </a:r>
            <a:r>
              <a:rPr lang="en-US" sz="2400" dirty="0"/>
              <a:t>The times from a high school bell schedule are listed.</a:t>
            </a:r>
          </a:p>
          <a:p>
            <a:pPr marL="800100" lvl="2" indent="0">
              <a:buNone/>
            </a:pPr>
            <a:r>
              <a:rPr lang="en-US" sz="2000" dirty="0"/>
              <a:t> 8:00 A.M.      8:52 A.M.     8:56 A.M.     9:48 A.M.     9:52 A.M.</a:t>
            </a:r>
          </a:p>
          <a:p>
            <a:pPr marL="800100" lvl="2" indent="0">
              <a:buNone/>
            </a:pPr>
            <a:r>
              <a:rPr lang="en-US" sz="2000" dirty="0"/>
              <a:t>10:44 A.M.   10:48 A.M.   11:40 A.M.   11:44 A.M.     1:08 P.M.</a:t>
            </a:r>
          </a:p>
          <a:p>
            <a:pPr marL="800100" lvl="2" indent="0">
              <a:buNone/>
            </a:pPr>
            <a:r>
              <a:rPr lang="en-US" sz="2000" dirty="0"/>
              <a:t>  1:12 P.M.      2:04 P.M.      2:08 P.M.      3:00 P.M.</a:t>
            </a:r>
          </a:p>
          <a:p>
            <a:pPr marL="0" indent="0">
              <a:buNone/>
            </a:pPr>
            <a:endParaRPr lang="en-US" sz="1800" dirty="0"/>
          </a:p>
          <a:p>
            <a:pPr marL="457200" indent="-457200">
              <a:buFont typeface="+mj-lt"/>
              <a:buAutoNum type="alphaLcPeriod" startAt="4"/>
            </a:pPr>
            <a:r>
              <a:rPr lang="en-US" sz="2400" b="1" dirty="0"/>
              <a:t>Fish Lengths</a:t>
            </a:r>
            <a:r>
              <a:rPr lang="en-US" sz="2400" dirty="0"/>
              <a:t>. The region (in inches) of a sample of striped bass caught in Maryland water are listed.</a:t>
            </a:r>
          </a:p>
          <a:p>
            <a:pPr marL="0" indent="0" algn="ctr">
              <a:buNone/>
            </a:pPr>
            <a:r>
              <a:rPr lang="en-US" sz="2000" dirty="0"/>
              <a:t>16   17.25   19   18.75   21   20.3   19.8   24   21.82</a:t>
            </a:r>
          </a:p>
        </p:txBody>
      </p:sp>
      <p:sp>
        <p:nvSpPr>
          <p:cNvPr id="3" name="Title 2">
            <a:extLst>
              <a:ext uri="{FF2B5EF4-FFF2-40B4-BE49-F238E27FC236}">
                <a16:creationId xmlns:a16="http://schemas.microsoft.com/office/drawing/2014/main" id="{4B89B356-1ED4-04C8-353C-90FDBB71969B}"/>
              </a:ext>
            </a:extLst>
          </p:cNvPr>
          <p:cNvSpPr>
            <a:spLocks noGrp="1"/>
          </p:cNvSpPr>
          <p:nvPr>
            <p:ph type="title"/>
          </p:nvPr>
        </p:nvSpPr>
        <p:spPr/>
        <p:txBody>
          <a:bodyPr/>
          <a:lstStyle/>
          <a:p>
            <a:r>
              <a:rPr lang="en-US" dirty="0"/>
              <a:t>Exercise 4</a:t>
            </a:r>
          </a:p>
        </p:txBody>
      </p:sp>
    </p:spTree>
    <p:extLst>
      <p:ext uri="{BB962C8B-B14F-4D97-AF65-F5344CB8AC3E}">
        <p14:creationId xmlns:p14="http://schemas.microsoft.com/office/powerpoint/2010/main" val="3868094294"/>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539309-31EE-083C-5679-55C8A5CE9064}"/>
              </a:ext>
            </a:extLst>
          </p:cNvPr>
          <p:cNvSpPr>
            <a:spLocks noGrp="1"/>
          </p:cNvSpPr>
          <p:nvPr>
            <p:ph idx="1"/>
          </p:nvPr>
        </p:nvSpPr>
        <p:spPr/>
        <p:txBody>
          <a:bodyPr/>
          <a:lstStyle/>
          <a:p>
            <a:pPr marL="0" indent="0">
              <a:buNone/>
            </a:pPr>
            <a:endParaRPr lang="en-US" dirty="0"/>
          </a:p>
        </p:txBody>
      </p:sp>
      <p:sp>
        <p:nvSpPr>
          <p:cNvPr id="3" name="Title 2">
            <a:extLst>
              <a:ext uri="{FF2B5EF4-FFF2-40B4-BE49-F238E27FC236}">
                <a16:creationId xmlns:a16="http://schemas.microsoft.com/office/drawing/2014/main" id="{5293A3B4-5FC9-54E5-8611-DCBEDDE460CD}"/>
              </a:ext>
            </a:extLst>
          </p:cNvPr>
          <p:cNvSpPr>
            <a:spLocks noGrp="1"/>
          </p:cNvSpPr>
          <p:nvPr>
            <p:ph type="title"/>
          </p:nvPr>
        </p:nvSpPr>
        <p:spPr/>
        <p:txBody>
          <a:bodyPr/>
          <a:lstStyle/>
          <a:p>
            <a:r>
              <a:rPr lang="en-US" dirty="0"/>
              <a:t>Solution 4</a:t>
            </a:r>
          </a:p>
        </p:txBody>
      </p:sp>
    </p:spTree>
    <p:extLst>
      <p:ext uri="{BB962C8B-B14F-4D97-AF65-F5344CB8AC3E}">
        <p14:creationId xmlns:p14="http://schemas.microsoft.com/office/powerpoint/2010/main" val="399235806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AEB4C-41C4-915A-BCC4-D087A0057533}"/>
              </a:ext>
            </a:extLst>
          </p:cNvPr>
          <p:cNvSpPr>
            <a:spLocks noGrp="1"/>
          </p:cNvSpPr>
          <p:nvPr>
            <p:ph idx="1"/>
          </p:nvPr>
        </p:nvSpPr>
        <p:spPr/>
        <p:txBody>
          <a:bodyPr/>
          <a:lstStyle/>
          <a:p>
            <a:pPr marL="0" indent="0">
              <a:buNone/>
            </a:pPr>
            <a:endParaRPr lang="en-US" dirty="0"/>
          </a:p>
        </p:txBody>
      </p:sp>
      <p:sp>
        <p:nvSpPr>
          <p:cNvPr id="6" name="Title 2">
            <a:extLst>
              <a:ext uri="{FF2B5EF4-FFF2-40B4-BE49-F238E27FC236}">
                <a16:creationId xmlns:a16="http://schemas.microsoft.com/office/drawing/2014/main" id="{7A8B4A27-7779-AEDA-DF30-7DC0C5ABC0C1}"/>
              </a:ext>
            </a:extLst>
          </p:cNvPr>
          <p:cNvSpPr>
            <a:spLocks noGrp="1"/>
          </p:cNvSpPr>
          <p:nvPr>
            <p:ph type="title"/>
          </p:nvPr>
        </p:nvSpPr>
        <p:spPr>
          <a:xfrm>
            <a:off x="457200" y="274638"/>
            <a:ext cx="8229600" cy="1143000"/>
          </a:xfrm>
        </p:spPr>
        <p:txBody>
          <a:bodyPr/>
          <a:lstStyle/>
          <a:p>
            <a:r>
              <a:rPr lang="en-US" dirty="0"/>
              <a:t>Solution 4</a:t>
            </a:r>
          </a:p>
        </p:txBody>
      </p:sp>
    </p:spTree>
    <p:extLst>
      <p:ext uri="{BB962C8B-B14F-4D97-AF65-F5344CB8AC3E}">
        <p14:creationId xmlns:p14="http://schemas.microsoft.com/office/powerpoint/2010/main" val="3816067095"/>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C6AEF-1615-DCE6-25AE-F6E2D417D5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5CC2CB-5BC6-AC27-37AF-76F4A8FCC1A9}"/>
              </a:ext>
            </a:extLst>
          </p:cNvPr>
          <p:cNvSpPr>
            <a:spLocks noGrp="1"/>
          </p:cNvSpPr>
          <p:nvPr>
            <p:ph idx="1"/>
          </p:nvPr>
        </p:nvSpPr>
        <p:spPr/>
        <p:txBody>
          <a:bodyPr/>
          <a:lstStyle/>
          <a:p>
            <a:pPr marL="0" indent="0">
              <a:buNone/>
            </a:pPr>
            <a:endParaRPr lang="en-US" dirty="0"/>
          </a:p>
        </p:txBody>
      </p:sp>
      <p:sp>
        <p:nvSpPr>
          <p:cNvPr id="4" name="Title 2">
            <a:extLst>
              <a:ext uri="{FF2B5EF4-FFF2-40B4-BE49-F238E27FC236}">
                <a16:creationId xmlns:a16="http://schemas.microsoft.com/office/drawing/2014/main" id="{3F17D643-2C7C-95F6-9D5D-273FDE85D9C4}"/>
              </a:ext>
            </a:extLst>
          </p:cNvPr>
          <p:cNvSpPr>
            <a:spLocks noGrp="1"/>
          </p:cNvSpPr>
          <p:nvPr>
            <p:ph type="title"/>
          </p:nvPr>
        </p:nvSpPr>
        <p:spPr>
          <a:xfrm>
            <a:off x="457200" y="274638"/>
            <a:ext cx="8229600" cy="1143000"/>
          </a:xfrm>
        </p:spPr>
        <p:txBody>
          <a:bodyPr/>
          <a:lstStyle/>
          <a:p>
            <a:r>
              <a:rPr lang="en-US" dirty="0"/>
              <a:t>Solution 4</a:t>
            </a:r>
          </a:p>
        </p:txBody>
      </p:sp>
    </p:spTree>
    <p:extLst>
      <p:ext uri="{BB962C8B-B14F-4D97-AF65-F5344CB8AC3E}">
        <p14:creationId xmlns:p14="http://schemas.microsoft.com/office/powerpoint/2010/main" val="3783880797"/>
      </p:ext>
    </p:extLst>
  </p:cSld>
  <p:clrMapOvr>
    <a:masterClrMapping/>
  </p:clrMapOvr>
  <p:transition>
    <p:wipe dir="r"/>
  </p:transition>
</p:sld>
</file>

<file path=ppt/theme/theme1.xml><?xml version="1.0" encoding="utf-8"?>
<a:theme xmlns:a="http://schemas.openxmlformats.org/drawingml/2006/main" name="lf4template">
  <a:themeElements>
    <a:clrScheme name="Custom 20">
      <a:dk1>
        <a:sysClr val="windowText" lastClr="000000"/>
      </a:dk1>
      <a:lt1>
        <a:srgbClr val="FFFFFF"/>
      </a:lt1>
      <a:dk2>
        <a:srgbClr val="3B539D"/>
      </a:dk2>
      <a:lt2>
        <a:srgbClr val="EEECE1"/>
      </a:lt2>
      <a:accent1>
        <a:srgbClr val="E9B50E"/>
      </a:accent1>
      <a:accent2>
        <a:srgbClr val="AE0337"/>
      </a:accent2>
      <a:accent3>
        <a:srgbClr val="83BB35"/>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err="1" smtClean="0">
            <a:latin typeface="+mn-lt"/>
          </a:defRPr>
        </a:defPPr>
      </a:lstStyle>
    </a:txDef>
  </a:objectDefaults>
  <a:extraClrSchemeLst/>
  <a:extLst>
    <a:ext uri="{05A4C25C-085E-4340-85A3-A5531E510DB2}">
      <thm15:themeFamily xmlns:thm15="http://schemas.microsoft.com/office/thememl/2012/main" name="les6e_template2.ppt  -  Compatibility Mode" id="{821B7270-F280-4094-A2E1-21A64EFB52AA}" vid="{788F13F2-6F53-4F28-A47B-16A619397B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5" ma:contentTypeDescription="Create a new document." ma:contentTypeScope="" ma:versionID="cad396464b27ec20e85cef2309ba97d7">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e658de7b0dba81f217707f0a1486c48f"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7B8062-AC87-4D91-A247-93A933262E2A}">
  <ds:schemaRefs>
    <ds:schemaRef ds:uri="http://schemas.microsoft.com/sharepoint/v3/contenttype/forms"/>
  </ds:schemaRefs>
</ds:datastoreItem>
</file>

<file path=customXml/itemProps2.xml><?xml version="1.0" encoding="utf-8"?>
<ds:datastoreItem xmlns:ds="http://schemas.openxmlformats.org/officeDocument/2006/customXml" ds:itemID="{B2872C40-16EB-4E62-89D8-FFBE6E0DB7E0}">
  <ds:schemaRefs>
    <ds:schemaRef ds:uri="http://purl.org/dc/elements/1.1/"/>
    <ds:schemaRef ds:uri="http://schemas.microsoft.com/office/2006/metadata/properties"/>
    <ds:schemaRef ds:uri="bde507ab-19d9-42c9-b69f-59bb821f2f61"/>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2b22d00c-ba54-415e-ac47-142f0dfcf7e9"/>
    <ds:schemaRef ds:uri="http://www.w3.org/XML/1998/namespace"/>
    <ds:schemaRef ds:uri="http://purl.org/dc/dcmitype/"/>
  </ds:schemaRefs>
</ds:datastoreItem>
</file>

<file path=customXml/itemProps3.xml><?xml version="1.0" encoding="utf-8"?>
<ds:datastoreItem xmlns:ds="http://schemas.openxmlformats.org/officeDocument/2006/customXml" ds:itemID="{E413255C-8316-439E-ADBE-F8AF5CB247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577</TotalTime>
  <Words>1238</Words>
  <Application>Microsoft Macintosh PowerPoint</Application>
  <PresentationFormat>On-screen Show (4:3)</PresentationFormat>
  <Paragraphs>210</Paragraphs>
  <Slides>31</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 Math</vt:lpstr>
      <vt:lpstr>Symbol</vt:lpstr>
      <vt:lpstr>Times New Roman</vt:lpstr>
      <vt:lpstr>Wingdings</vt:lpstr>
      <vt:lpstr>lf4template</vt:lpstr>
      <vt:lpstr>PowerPoint Presentation</vt:lpstr>
      <vt:lpstr>Chapter Outline</vt:lpstr>
      <vt:lpstr>Section 1.2</vt:lpstr>
      <vt:lpstr>Section 1.2 Objectives</vt:lpstr>
      <vt:lpstr>Types of Data</vt:lpstr>
      <vt:lpstr>Types of Data</vt:lpstr>
      <vt:lpstr>Example: Classifying Data by Type</vt:lpstr>
      <vt:lpstr>Solution: Classifying Data by Type</vt:lpstr>
      <vt:lpstr>Levels of Measurement</vt:lpstr>
      <vt:lpstr>Example: Classifying Data by Level</vt:lpstr>
      <vt:lpstr>Solution: Classifying Data by Level</vt:lpstr>
      <vt:lpstr>Levels of Measurement</vt:lpstr>
      <vt:lpstr>Levels of Measurement</vt:lpstr>
      <vt:lpstr>Example: Classifying Data by Level</vt:lpstr>
      <vt:lpstr>Solution: Classifying Data by Level</vt:lpstr>
      <vt:lpstr>Solution: Classifying Data by Level</vt:lpstr>
      <vt:lpstr>Solution: Classifying Data by Level</vt:lpstr>
      <vt:lpstr>Summary of Four Levels of Measurement</vt:lpstr>
      <vt:lpstr>Summary of Four Levels of Measurement</vt:lpstr>
      <vt:lpstr>Summary of Four Levels of Measurement</vt:lpstr>
      <vt:lpstr>Exercise 1</vt:lpstr>
      <vt:lpstr>Solution 1</vt:lpstr>
      <vt:lpstr>Exercise 2</vt:lpstr>
      <vt:lpstr>Solution 2</vt:lpstr>
      <vt:lpstr>Exercise 3</vt:lpstr>
      <vt:lpstr>Solution 3</vt:lpstr>
      <vt:lpstr>Exercise 4</vt:lpstr>
      <vt:lpstr>Exercise 4</vt:lpstr>
      <vt:lpstr>Solution 4</vt:lpstr>
      <vt:lpstr>Solution 4</vt:lpstr>
      <vt:lpstr>Solution 4</vt:lpstr>
    </vt:vector>
  </TitlesOfParts>
  <Company>© Copyright 2023, 2019, 2015, Pearson Education,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Elementary Statistics  8e</dc:subject>
  <dc:creator>Ron Larson, Betsy Farber</dc:creator>
  <cp:lastModifiedBy>Nur Nadiah Lani</cp:lastModifiedBy>
  <cp:revision>86</cp:revision>
  <dcterms:created xsi:type="dcterms:W3CDTF">2007-07-18T23:54:35Z</dcterms:created>
  <dcterms:modified xsi:type="dcterms:W3CDTF">2026-06-30T15:11:02Z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